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9" roundtripDataSignature="AMtx7miYRD9b/vzGpUntmO9z4uv4b6vs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C09219-FD1A-4E64-AFF6-C5BFC19271E1}">
  <a:tblStyle styleId="{EAC09219-FD1A-4E64-AFF6-C5BFC19271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Formal definition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Tom M. Mitchell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computer program is said to learn from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respect to some class of tasks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performance measure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if its performance at tasks in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as measured by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improves with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learning?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47c7f1b48_1_8:notes"/>
          <p:cNvSpPr/>
          <p:nvPr>
            <p:ph idx="2" type="sldImg"/>
          </p:nvPr>
        </p:nvSpPr>
        <p:spPr>
          <a:xfrm>
            <a:off x="380880" y="685800"/>
            <a:ext cx="6095100" cy="34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c47c7f1b48_1_8:notes"/>
          <p:cNvSpPr txBox="1"/>
          <p:nvPr>
            <p:ph idx="1" type="body"/>
          </p:nvPr>
        </p:nvSpPr>
        <p:spPr>
          <a:xfrm>
            <a:off x="685800" y="4343400"/>
            <a:ext cx="54858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4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https://medium.com/technology-nineleaps/popular-machine-learning-algorithms-a574e3835ebb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c47c7f1b48_1_8:notes"/>
          <p:cNvSpPr/>
          <p:nvPr/>
        </p:nvSpPr>
        <p:spPr>
          <a:xfrm>
            <a:off x="3884760" y="8685360"/>
            <a:ext cx="2971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Biological Neuro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n = Brain’s Processing Unit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215639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latin typeface="Malgun Gothic"/>
                <a:ea typeface="Malgun Gothic"/>
                <a:cs typeface="Malgun Gothic"/>
                <a:sym typeface="Malgun Gothic"/>
              </a:rPr>
              <a:t>Biological neuron inspired the birth of artificial neuron.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7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github.com/aimldl" TargetMode="External"/><Relationship Id="rId5" Type="http://schemas.openxmlformats.org/officeDocument/2006/relationships/hyperlink" Target="mailto:mrtonnet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2.png"/><Relationship Id="rId13" Type="http://schemas.openxmlformats.org/officeDocument/2006/relationships/hyperlink" Target="https://youtu.be/MqUbdd7ae54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hyperlink" Target="https://youtu.be/rVlhMGQgDkY" TargetMode="External"/><Relationship Id="rId9" Type="http://schemas.openxmlformats.org/officeDocument/2006/relationships/hyperlink" Target="https://www.ted.com/talks/joseph_redmon_how_a_computer_learns_to_recognize_objects_instantly?utm_campaign=tedspread--a&amp;utm_medium=referral&amp;utm_source=tedcomshare" TargetMode="External"/><Relationship Id="rId15" Type="http://schemas.openxmlformats.org/officeDocument/2006/relationships/hyperlink" Target="https://youtu.be/8tq1C8spV_g" TargetMode="External"/><Relationship Id="rId14" Type="http://schemas.openxmlformats.org/officeDocument/2006/relationships/image" Target="../media/image7.png"/><Relationship Id="rId16" Type="http://schemas.openxmlformats.org/officeDocument/2006/relationships/image" Target="../media/image5.png"/><Relationship Id="rId5" Type="http://schemas.openxmlformats.org/officeDocument/2006/relationships/hyperlink" Target="https://youtu.be/P18EdAKuC1U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hyperlink" Target="https://youtu.be/ZLPmPzpqJN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://playground.tensorflow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aelfabien.github.io/machinelearning/ml_base/#supervised-vs-unsupervised" TargetMode="External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epai.org/machine-learning-glossary-and-terms/unsupervised-learning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achinelearningmastery.com/a-tour-of-machine-learning-algorithms/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8.jpg"/><Relationship Id="rId6" Type="http://schemas.openxmlformats.org/officeDocument/2006/relationships/hyperlink" Target="https://www.sciencedirect.com/science/article/abs/pii/S095741741400655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hyperlink" Target="https://maelfabien.github.io/machinelearning/ml_base/#supervised-vs-unsupervised" TargetMode="External"/><Relationship Id="rId5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hyperlink" Target="http://playground.tensorflow.or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maelfabien.github.io/machinelearning/ml_base/#supervised-vs-unsupervised" TargetMode="External"/><Relationship Id="rId4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/>
          <p:nvPr/>
        </p:nvSpPr>
        <p:spPr>
          <a:xfrm>
            <a:off x="1487520" y="620640"/>
            <a:ext cx="9216360" cy="77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</a:t>
            </a:r>
            <a:r>
              <a:rPr b="1" i="0" lang="en-US" sz="40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기계 학습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심층 학습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소개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3634560" y="3645000"/>
            <a:ext cx="4607640" cy="57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김태형, 공학박사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2834640" y="5652360"/>
            <a:ext cx="6768000" cy="106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2021-01-22 (금)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Zoom 미팅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3804120" y="4972320"/>
            <a:ext cx="4554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</a:t>
            </a: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github.com/aimldl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4048920" y="4410360"/>
            <a:ext cx="404424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mrtonnet@gmail.com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3143520" y="1343880"/>
            <a:ext cx="8352360" cy="71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2351520" y="1999800"/>
            <a:ext cx="8280360" cy="380484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791880" y="1440000"/>
            <a:ext cx="5328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(AI), 인공지능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3791880" y="2246040"/>
            <a:ext cx="5626800" cy="3198600"/>
            <a:chOff x="3791880" y="2246040"/>
            <a:chExt cx="5626800" cy="3198600"/>
          </a:xfrm>
        </p:grpSpPr>
        <p:sp>
          <p:nvSpPr>
            <p:cNvPr id="79" name="Google Shape;79;p2"/>
            <p:cNvSpPr/>
            <p:nvPr/>
          </p:nvSpPr>
          <p:spPr>
            <a:xfrm>
              <a:off x="3874680" y="2709000"/>
              <a:ext cx="5328000" cy="2735640"/>
            </a:xfrm>
            <a:prstGeom prst="ellipse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791880" y="2246040"/>
              <a:ext cx="5626800" cy="39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Machine Learning (ML), 머신 러닝/기계 학습</a:t>
              </a:r>
              <a:endParaRPr b="0" i="0" sz="20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4511880" y="3291480"/>
            <a:ext cx="4453920" cy="1537920"/>
            <a:chOff x="4511880" y="3291480"/>
            <a:chExt cx="4453920" cy="1537920"/>
          </a:xfrm>
        </p:grpSpPr>
        <p:sp>
          <p:nvSpPr>
            <p:cNvPr id="82" name="Google Shape;82;p2"/>
            <p:cNvSpPr/>
            <p:nvPr/>
          </p:nvSpPr>
          <p:spPr>
            <a:xfrm>
              <a:off x="6095880" y="3822120"/>
              <a:ext cx="1007280" cy="100728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511880" y="3291480"/>
              <a:ext cx="445392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 (DL), 딥러닝/심층 학습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2"/>
          <p:cNvSpPr/>
          <p:nvPr/>
        </p:nvSpPr>
        <p:spPr>
          <a:xfrm>
            <a:off x="2207520" y="6005880"/>
            <a:ext cx="907236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딥러닝은 </a:t>
            </a: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 알고리즘 중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인공신경망 (Artificial Neural Networks)을 쓰는 방식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머신러닝이라고 하면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딥러닝을 포함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78280" y="200880"/>
            <a:ext cx="819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</a:t>
            </a: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기계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심층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소개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730800" y="1033200"/>
            <a:ext cx="99730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컴퓨터로 (인간) 뇌의 기능 중 특히 지능을 요하는 것을 수행하는 것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8280" y="200880"/>
            <a:ext cx="819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3"/>
          <p:cNvGrpSpPr/>
          <p:nvPr/>
        </p:nvGrpSpPr>
        <p:grpSpPr>
          <a:xfrm>
            <a:off x="501840" y="2188440"/>
            <a:ext cx="6028560" cy="4278600"/>
            <a:chOff x="501840" y="2188440"/>
            <a:chExt cx="6028560" cy="4278600"/>
          </a:xfrm>
        </p:grpSpPr>
        <p:sp>
          <p:nvSpPr>
            <p:cNvPr id="94" name="Google Shape;94;p3"/>
            <p:cNvSpPr/>
            <p:nvPr/>
          </p:nvSpPr>
          <p:spPr>
            <a:xfrm>
              <a:off x="2333160" y="6011280"/>
              <a:ext cx="25948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뇌가 수행하는 기능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908160" y="21884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보행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2135880" y="266400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오감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020040" y="340416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시각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010680" y="40190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청각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726920" y="398196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후각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79480" y="398196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촉각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340280" y="342036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미각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608920" y="3342600"/>
              <a:ext cx="1406520" cy="129888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759600" y="3342600"/>
              <a:ext cx="1690200" cy="130500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01840" y="3183120"/>
              <a:ext cx="3882240" cy="160956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5142600" y="3300120"/>
              <a:ext cx="13878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사물 인식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822760" y="4904640"/>
              <a:ext cx="13878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언어 이해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발화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6052680" y="1854000"/>
            <a:ext cx="5196960" cy="4659840"/>
            <a:chOff x="6052680" y="1854000"/>
            <a:chExt cx="5196960" cy="4659840"/>
          </a:xfrm>
        </p:grpSpPr>
        <p:sp>
          <p:nvSpPr>
            <p:cNvPr id="108" name="Google Shape;108;p3"/>
            <p:cNvSpPr/>
            <p:nvPr/>
          </p:nvSpPr>
          <p:spPr>
            <a:xfrm>
              <a:off x="7204320" y="6058080"/>
              <a:ext cx="25948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지능을 요하는 능력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8309520" y="2255400"/>
              <a:ext cx="1875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언어 (외국어)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7986960" y="331560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게임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0108080" y="304776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지식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40160" y="413352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체스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7940160" y="475308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바둑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885440" y="4076280"/>
              <a:ext cx="759240" cy="126792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680240" y="3823920"/>
              <a:ext cx="1223280" cy="1697040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0508040" y="471060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추천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6052680" y="185400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운전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604320" y="1548360"/>
            <a:ext cx="100368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Robotics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160" y="1836360"/>
            <a:ext cx="1930320" cy="107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2925720" y="2927520"/>
            <a:ext cx="24912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Atlas, The Next Generation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[2:41]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079200" y="3771000"/>
            <a:ext cx="3167640" cy="4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Watson and the Jeopardy! Challenge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[3:45]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979560" y="2363040"/>
            <a:ext cx="132660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 System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4960" y="2701440"/>
            <a:ext cx="1921320" cy="107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9752040" y="4056120"/>
            <a:ext cx="239832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Recommender Systems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65440" y="4362480"/>
            <a:ext cx="2069640" cy="19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1932840" y="5326200"/>
            <a:ext cx="21636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All-New Amazon Echo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[1:52]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451520" y="3444120"/>
            <a:ext cx="3147120" cy="576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Speech Recognition/Synthesis +Natural Language Processing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300480" y="4785840"/>
            <a:ext cx="5427720" cy="3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computers learn to recognize objects instantly,Joseph Redmon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[7:37]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1880" y="3488400"/>
            <a:ext cx="2324520" cy="130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5034600" y="3214080"/>
            <a:ext cx="174888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Computer Vision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50040" y="4048200"/>
            <a:ext cx="2320560" cy="13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66760" y="1305000"/>
            <a:ext cx="2312280" cy="109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5227560" y="2403000"/>
            <a:ext cx="3415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Google self-driving car sees a road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[0:50]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724000" y="948240"/>
            <a:ext cx="211788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Autonomous Driving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20240" y="4037400"/>
            <a:ext cx="2353320" cy="132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7407000" y="5312160"/>
            <a:ext cx="2185920" cy="4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AlphaGo Official Trailer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[1:30]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718760" y="3700800"/>
            <a:ext cx="144396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Computer Go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667360" y="979920"/>
            <a:ext cx="2762640" cy="3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Neural Machine Translation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7440" y="1333080"/>
            <a:ext cx="2519640" cy="1035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278280" y="200880"/>
            <a:ext cx="11721600" cy="12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Intelligence-</a:t>
            </a: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Machine Learning </a:t>
            </a:r>
            <a:r>
              <a:rPr b="1" i="0" lang="en-US" sz="3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Machine Learning (ML)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8280" y="836640"/>
            <a:ext cx="9417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많은 데이터에서 입출력 관계를 학습하는 컴퓨터 프로그래밍 방식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5"/>
          <p:cNvGrpSpPr/>
          <p:nvPr/>
        </p:nvGrpSpPr>
        <p:grpSpPr>
          <a:xfrm>
            <a:off x="228960" y="1268640"/>
            <a:ext cx="11652840" cy="5547240"/>
            <a:chOff x="228960" y="1268640"/>
            <a:chExt cx="11652840" cy="5547240"/>
          </a:xfrm>
        </p:grpSpPr>
        <p:pic>
          <p:nvPicPr>
            <p:cNvPr id="153" name="Google Shape;15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520" y="1887840"/>
              <a:ext cx="10816920" cy="4266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5"/>
            <p:cNvSpPr/>
            <p:nvPr/>
          </p:nvSpPr>
          <p:spPr>
            <a:xfrm>
              <a:off x="1347840" y="3209400"/>
              <a:ext cx="41400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 b="0" i="0" sz="3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698880" y="3288600"/>
              <a:ext cx="47088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^</a:t>
              </a:r>
              <a:endParaRPr b="0" i="0" sz="32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3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568080" y="12686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1140200" y="27428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목표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flipH="1" rot="10800000">
              <a:off x="1771200" y="3498840"/>
              <a:ext cx="1303920" cy="3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159" name="Google Shape;159;p5"/>
            <p:cNvSpPr/>
            <p:nvPr/>
          </p:nvSpPr>
          <p:spPr>
            <a:xfrm flipH="1" rot="10800000">
              <a:off x="6054120" y="3549960"/>
              <a:ext cx="644040" cy="136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6495840" y="26924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예측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8726040" y="131112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출력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1305800" y="3289320"/>
              <a:ext cx="39708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3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5"/>
            <p:cNvCxnSpPr/>
            <p:nvPr/>
          </p:nvCxnSpPr>
          <p:spPr>
            <a:xfrm>
              <a:off x="7170120" y="3578400"/>
              <a:ext cx="4126680" cy="3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5"/>
            <p:cNvCxnSpPr/>
            <p:nvPr/>
          </p:nvCxnSpPr>
          <p:spPr>
            <a:xfrm flipH="1">
              <a:off x="6758280" y="3592800"/>
              <a:ext cx="2338920" cy="193464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5"/>
            <p:cNvSpPr/>
            <p:nvPr/>
          </p:nvSpPr>
          <p:spPr>
            <a:xfrm rot="10800000">
              <a:off x="2610000" y="1374480"/>
              <a:ext cx="4143240" cy="41518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med" w="med" type="triangle"/>
            </a:ln>
          </p:spPr>
        </p:sp>
        <p:sp>
          <p:nvSpPr>
            <p:cNvPr id="166" name="Google Shape;166;p5"/>
            <p:cNvSpPr/>
            <p:nvPr/>
          </p:nvSpPr>
          <p:spPr>
            <a:xfrm>
              <a:off x="3075840" y="1834560"/>
              <a:ext cx="2977560" cy="333216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233960" y="1268640"/>
              <a:ext cx="66096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f(X)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228960" y="6489000"/>
              <a:ext cx="3041280" cy="32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Src: http://playground.tensorflow.org</a:t>
              </a:r>
              <a:endParaRPr b="0" i="0" sz="13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5"/>
          <p:cNvSpPr/>
          <p:nvPr/>
        </p:nvSpPr>
        <p:spPr>
          <a:xfrm>
            <a:off x="1035000" y="6037920"/>
            <a:ext cx="9417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Reminder: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딥러닝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은 </a:t>
            </a:r>
            <a:r>
              <a:rPr b="1" i="0" lang="en-US" sz="24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에 포함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6"/>
          <p:cNvGrpSpPr/>
          <p:nvPr/>
        </p:nvGrpSpPr>
        <p:grpSpPr>
          <a:xfrm>
            <a:off x="551520" y="1934280"/>
            <a:ext cx="10656361" cy="4582080"/>
            <a:chOff x="551520" y="1934280"/>
            <a:chExt cx="10656361" cy="4582080"/>
          </a:xfrm>
        </p:grpSpPr>
        <p:pic>
          <p:nvPicPr>
            <p:cNvPr id="175" name="Google Shape;17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1520" y="1934280"/>
              <a:ext cx="9936361" cy="37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6"/>
            <p:cNvSpPr/>
            <p:nvPr/>
          </p:nvSpPr>
          <p:spPr>
            <a:xfrm>
              <a:off x="551520" y="6060600"/>
              <a:ext cx="1044036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머신 러닝 모델의 학습을 위해서 정제된 많은 데이터가 반드시 필요합니다.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6"/>
          <p:cNvSpPr/>
          <p:nvPr/>
        </p:nvSpPr>
        <p:spPr>
          <a:xfrm>
            <a:off x="278280" y="836640"/>
            <a:ext cx="10209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많은 데이터</a:t>
            </a:r>
            <a:r>
              <a:rPr b="1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에서 입출력 관계를 학습하는 컴퓨터 프로그래밍 방식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Data for Machine Learning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(Machine) Learning Types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468975" y="3298700"/>
            <a:ext cx="2338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Develop </a:t>
            </a:r>
            <a:r>
              <a:rPr b="1" lang="en-US" sz="1200">
                <a:solidFill>
                  <a:srgbClr val="808080"/>
                </a:solidFill>
              </a:rPr>
              <a:t>predictive model</a:t>
            </a:r>
            <a:r>
              <a:rPr b="1" lang="en-US" sz="1200">
                <a:solidFill>
                  <a:srgbClr val="808080"/>
                </a:solidFill>
              </a:rPr>
              <a:t>(s)</a:t>
            </a:r>
            <a:br>
              <a:rPr b="1" lang="en-US" sz="1200">
                <a:solidFill>
                  <a:srgbClr val="808080"/>
                </a:solidFill>
              </a:rPr>
            </a:br>
            <a:r>
              <a:rPr b="1" lang="en-US" sz="1200">
                <a:solidFill>
                  <a:srgbClr val="808080"/>
                </a:solidFill>
              </a:rPr>
              <a:t>from input and target data</a:t>
            </a:r>
            <a:endParaRPr b="1" sz="1200">
              <a:solidFill>
                <a:srgbClr val="80808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(Task-driven)</a:t>
            </a:r>
            <a:endParaRPr b="1" sz="1200">
              <a:solidFill>
                <a:srgbClr val="808080"/>
              </a:solidFill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99550" y="3324050"/>
            <a:ext cx="1992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Group and interpret data </a:t>
            </a:r>
            <a:br>
              <a:rPr b="1" lang="en-US" sz="1200">
                <a:solidFill>
                  <a:srgbClr val="808080"/>
                </a:solidFill>
              </a:rPr>
            </a:br>
            <a:r>
              <a:rPr b="1" lang="en-US" sz="1200">
                <a:solidFill>
                  <a:srgbClr val="808080"/>
                </a:solidFill>
              </a:rPr>
              <a:t>only from input data</a:t>
            </a:r>
            <a:endParaRPr b="1" sz="1200">
              <a:solidFill>
                <a:srgbClr val="80808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(Data-driven)</a:t>
            </a:r>
            <a:endParaRPr b="1" sz="1200">
              <a:solidFill>
                <a:srgbClr val="808080"/>
              </a:solidFill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549150" y="3324050"/>
            <a:ext cx="30024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Learn from the interactions </a:t>
            </a:r>
            <a:br>
              <a:rPr b="1" lang="en-US" sz="1200">
                <a:solidFill>
                  <a:srgbClr val="808080"/>
                </a:solidFill>
              </a:rPr>
            </a:br>
            <a:r>
              <a:rPr b="1" lang="en-US" sz="1200">
                <a:solidFill>
                  <a:srgbClr val="808080"/>
                </a:solidFill>
              </a:rPr>
              <a:t>with the environment</a:t>
            </a:r>
            <a:endParaRPr b="1" sz="1200">
              <a:solidFill>
                <a:srgbClr val="80808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08080"/>
                </a:solidFill>
              </a:rPr>
              <a:t>(Learn from mistakes and successes)</a:t>
            </a:r>
            <a:endParaRPr b="1" sz="1200">
              <a:solidFill>
                <a:srgbClr val="808080"/>
              </a:solidFill>
            </a:endParaRPr>
          </a:p>
        </p:txBody>
      </p:sp>
      <p:pic>
        <p:nvPicPr>
          <p:cNvPr id="188" name="Google Shape;18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25" y="708900"/>
            <a:ext cx="9711274" cy="2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c47c7f1b48_1_8"/>
          <p:cNvSpPr/>
          <p:nvPr/>
        </p:nvSpPr>
        <p:spPr>
          <a:xfrm>
            <a:off x="278280" y="200880"/>
            <a:ext cx="8913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58ED5"/>
                </a:solidFill>
              </a:rPr>
              <a:t>Tasks in Machine Learning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c47c7f1b48_1_8"/>
          <p:cNvSpPr/>
          <p:nvPr/>
        </p:nvSpPr>
        <p:spPr>
          <a:xfrm>
            <a:off x="811080" y="6008400"/>
            <a:ext cx="10440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(시간 상) 상업적으로 성공적인 사례가 많은 Supervised learning을 소개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c47c7f1b48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4780"/>
            <a:ext cx="114204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Supervised Learning Tasks/Problems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0752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basis of Machine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Maël Fabien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176240" y="1001160"/>
            <a:ext cx="30808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Classification, 분류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919520" y="870840"/>
            <a:ext cx="30808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Regression, 회귀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(Curve fitting)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359520" y="5296680"/>
            <a:ext cx="6480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하나의 원/점은 하나의 데이터를 의미합니다.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454280" y="5830200"/>
            <a:ext cx="42912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용어: Dataset, 데이터의 집합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8"/>
          <p:cNvPicPr preferRelativeResize="0"/>
          <p:nvPr/>
        </p:nvPicPr>
        <p:blipFill rotWithShape="1">
          <a:blip r:embed="rId4">
            <a:alphaModFix/>
          </a:blip>
          <a:srcRect b="21170" l="49993" r="11191" t="4638"/>
          <a:stretch/>
        </p:blipFill>
        <p:spPr>
          <a:xfrm>
            <a:off x="1487520" y="1700640"/>
            <a:ext cx="4247640" cy="345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 rotWithShape="1">
          <a:blip r:embed="rId4">
            <a:alphaModFix/>
          </a:blip>
          <a:srcRect b="25800" l="53941" r="17113" t="12365"/>
          <a:stretch/>
        </p:blipFill>
        <p:spPr>
          <a:xfrm rot="10800000">
            <a:off x="8326440" y="7762680"/>
            <a:ext cx="3167640" cy="287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4">
            <a:alphaModFix/>
          </a:blip>
          <a:srcRect b="21170" l="7237" r="53951" t="4638"/>
          <a:stretch/>
        </p:blipFill>
        <p:spPr>
          <a:xfrm>
            <a:off x="5976000" y="1152000"/>
            <a:ext cx="4247640" cy="345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278280" y="200880"/>
            <a:ext cx="10425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Regression Problem (Curve Fitting Problem)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0752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Unsupervised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deepai.org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304280" y="5304240"/>
            <a:ext cx="92365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Y=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x+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의 파라미터인 a, b를 변경하면서, 오차가 적은 것을 선택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520" y="1917000"/>
            <a:ext cx="3759120" cy="250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263520" y="933840"/>
            <a:ext cx="11520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Q: 어떻게 선을 그리면 Dataset을 잘 나타낼 수 있을까요?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3080" y="1917000"/>
            <a:ext cx="3759120" cy="250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1560" y="1917000"/>
            <a:ext cx="3759120" cy="2504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9"/>
          <p:cNvGrpSpPr/>
          <p:nvPr/>
        </p:nvGrpSpPr>
        <p:grpSpPr>
          <a:xfrm>
            <a:off x="855720" y="1527120"/>
            <a:ext cx="3206160" cy="1569240"/>
            <a:chOff x="855720" y="1527120"/>
            <a:chExt cx="3206160" cy="1569240"/>
          </a:xfrm>
        </p:grpSpPr>
        <p:cxnSp>
          <p:nvCxnSpPr>
            <p:cNvPr id="224" name="Google Shape;224;p9"/>
            <p:cNvCxnSpPr/>
            <p:nvPr/>
          </p:nvCxnSpPr>
          <p:spPr>
            <a:xfrm flipH="1" rot="10800000">
              <a:off x="855720" y="2768040"/>
              <a:ext cx="3206160" cy="328320"/>
            </a:xfrm>
            <a:prstGeom prst="straightConnector1">
              <a:avLst/>
            </a:prstGeom>
            <a:noFill/>
            <a:ln cap="flat" cmpd="sng" w="28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9"/>
            <p:cNvSpPr/>
            <p:nvPr/>
          </p:nvSpPr>
          <p:spPr>
            <a:xfrm>
              <a:off x="987840" y="2653560"/>
              <a:ext cx="92304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Y=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2112120" y="1527120"/>
              <a:ext cx="7660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①번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9"/>
          <p:cNvGrpSpPr/>
          <p:nvPr/>
        </p:nvGrpSpPr>
        <p:grpSpPr>
          <a:xfrm>
            <a:off x="4761360" y="1553760"/>
            <a:ext cx="3227760" cy="1882080"/>
            <a:chOff x="4761360" y="1553760"/>
            <a:chExt cx="3227760" cy="1882080"/>
          </a:xfrm>
        </p:grpSpPr>
        <p:sp>
          <p:nvSpPr>
            <p:cNvPr id="228" name="Google Shape;228;p9"/>
            <p:cNvSpPr/>
            <p:nvPr/>
          </p:nvSpPr>
          <p:spPr>
            <a:xfrm>
              <a:off x="4827960" y="2680200"/>
              <a:ext cx="87588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Y=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5962320" y="1553760"/>
              <a:ext cx="7660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②번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p9"/>
            <p:cNvCxnSpPr/>
            <p:nvPr/>
          </p:nvCxnSpPr>
          <p:spPr>
            <a:xfrm flipH="1" rot="10800000">
              <a:off x="4761360" y="2328480"/>
              <a:ext cx="3227760" cy="1107360"/>
            </a:xfrm>
            <a:prstGeom prst="straightConnector1">
              <a:avLst/>
            </a:prstGeom>
            <a:noFill/>
            <a:ln cap="flat" cmpd="sng" w="28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1" name="Google Shape;231;p9"/>
          <p:cNvGrpSpPr/>
          <p:nvPr/>
        </p:nvGrpSpPr>
        <p:grpSpPr>
          <a:xfrm>
            <a:off x="8546040" y="1484640"/>
            <a:ext cx="3147480" cy="2479320"/>
            <a:chOff x="8546040" y="1484640"/>
            <a:chExt cx="3147480" cy="2479320"/>
          </a:xfrm>
        </p:grpSpPr>
        <p:sp>
          <p:nvSpPr>
            <p:cNvPr id="232" name="Google Shape;232;p9"/>
            <p:cNvSpPr/>
            <p:nvPr/>
          </p:nvSpPr>
          <p:spPr>
            <a:xfrm>
              <a:off x="8617680" y="2611080"/>
              <a:ext cx="119160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Y=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5.6</a:t>
              </a:r>
              <a:r>
                <a:rPr b="0" i="0" lang="en-US" sz="1800" u="none" cap="none" strike="noStrike">
                  <a:solidFill>
                    <a:srgbClr val="8080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-13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9757800" y="1484640"/>
              <a:ext cx="7660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③번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9"/>
            <p:cNvCxnSpPr/>
            <p:nvPr/>
          </p:nvCxnSpPr>
          <p:spPr>
            <a:xfrm flipH="1" rot="10800000">
              <a:off x="8546040" y="2006280"/>
              <a:ext cx="3147480" cy="1957680"/>
            </a:xfrm>
            <a:prstGeom prst="straightConnector1">
              <a:avLst/>
            </a:prstGeom>
            <a:noFill/>
            <a:ln cap="flat" cmpd="sng" w="28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5" name="Google Shape;235;p9"/>
          <p:cNvSpPr/>
          <p:nvPr/>
        </p:nvSpPr>
        <p:spPr>
          <a:xfrm>
            <a:off x="3048120" y="3316320"/>
            <a:ext cx="60951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a, b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83520" y="4666680"/>
            <a:ext cx="24343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예를 들어 설명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Other Examples of Regression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67520" y="6379920"/>
            <a:ext cx="4247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Tour of Machine Learning Algorithms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263520" y="933840"/>
            <a:ext cx="11520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여러 가지 형태의 Dataset에 대해 Non-linear Function Approximation이 가능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20" y="1514520"/>
            <a:ext cx="4557240" cy="383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5880" y="1845000"/>
            <a:ext cx="6192000" cy="3260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5735880" y="6333840"/>
            <a:ext cx="5976000" cy="81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Predicting stock market index using fusion of machine learning techniques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Patel et.al. 2015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278280" y="200880"/>
            <a:ext cx="11649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Classification of Dataset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27768" l="9865" r="50663" t="4638"/>
          <a:stretch/>
        </p:blipFill>
        <p:spPr>
          <a:xfrm>
            <a:off x="2063520" y="1792440"/>
            <a:ext cx="4319640" cy="31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2207520" y="948240"/>
            <a:ext cx="30808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Classification, 분류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775520" y="5013000"/>
            <a:ext cx="12232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Class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272560" y="1432440"/>
            <a:ext cx="1254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A0000"/>
                </a:solidFill>
                <a:latin typeface="Arial"/>
                <a:ea typeface="Arial"/>
                <a:cs typeface="Arial"/>
                <a:sym typeface="Arial"/>
              </a:rPr>
              <a:t>Class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/>
          <p:nvPr/>
        </p:nvSpPr>
        <p:spPr>
          <a:xfrm rot="-2841000">
            <a:off x="983520" y="1456920"/>
            <a:ext cx="181440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Boundary,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결정 경계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0752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basis of Machine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Maël Fabien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11"/>
          <p:cNvGrpSpPr/>
          <p:nvPr/>
        </p:nvGrpSpPr>
        <p:grpSpPr>
          <a:xfrm>
            <a:off x="6960240" y="933840"/>
            <a:ext cx="5184000" cy="5230503"/>
            <a:chOff x="6960240" y="933840"/>
            <a:chExt cx="5184000" cy="5230503"/>
          </a:xfrm>
        </p:grpSpPr>
        <p:pic>
          <p:nvPicPr>
            <p:cNvPr id="261" name="Google Shape;261;p11"/>
            <p:cNvPicPr preferRelativeResize="0"/>
            <p:nvPr/>
          </p:nvPicPr>
          <p:blipFill rotWithShape="1">
            <a:blip r:embed="rId5">
              <a:alphaModFix/>
            </a:blip>
            <a:srcRect b="12896" l="7364" r="53175" t="16188"/>
            <a:stretch/>
          </p:blipFill>
          <p:spPr>
            <a:xfrm rot="-2956200">
              <a:off x="7763760" y="400788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1"/>
            <p:cNvPicPr preferRelativeResize="0"/>
            <p:nvPr/>
          </p:nvPicPr>
          <p:blipFill rotWithShape="1">
            <a:blip r:embed="rId5">
              <a:alphaModFix/>
            </a:blip>
            <a:srcRect b="12896" l="49016" r="8877" t="16188"/>
            <a:stretch/>
          </p:blipFill>
          <p:spPr>
            <a:xfrm rot="-3085200">
              <a:off x="9381960" y="207180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1"/>
            <p:cNvSpPr/>
            <p:nvPr/>
          </p:nvSpPr>
          <p:spPr>
            <a:xfrm>
              <a:off x="6960240" y="933840"/>
              <a:ext cx="51840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Q: 이 Dataset을 어떻게 분류할까요?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11"/>
          <p:cNvGrpSpPr/>
          <p:nvPr/>
        </p:nvGrpSpPr>
        <p:grpSpPr>
          <a:xfrm>
            <a:off x="7133199" y="1557171"/>
            <a:ext cx="3859041" cy="3239829"/>
            <a:chOff x="7133199" y="1557171"/>
            <a:chExt cx="3859041" cy="3239829"/>
          </a:xfrm>
        </p:grpSpPr>
        <p:cxnSp>
          <p:nvCxnSpPr>
            <p:cNvPr id="265" name="Google Shape;265;p11"/>
            <p:cNvCxnSpPr/>
            <p:nvPr/>
          </p:nvCxnSpPr>
          <p:spPr>
            <a:xfrm>
              <a:off x="8472240" y="2852640"/>
              <a:ext cx="2520000" cy="1944360"/>
            </a:xfrm>
            <a:prstGeom prst="straightConnector1">
              <a:avLst/>
            </a:prstGeom>
            <a:noFill/>
            <a:ln cap="flat" cmpd="sng" w="1907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11"/>
            <p:cNvSpPr/>
            <p:nvPr/>
          </p:nvSpPr>
          <p:spPr>
            <a:xfrm rot="-2841000">
              <a:off x="7142760" y="209196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11"/>
          <p:cNvGrpSpPr/>
          <p:nvPr/>
        </p:nvGrpSpPr>
        <p:grpSpPr>
          <a:xfrm>
            <a:off x="7063560" y="1330920"/>
            <a:ext cx="5127480" cy="4923360"/>
            <a:chOff x="7063560" y="1330920"/>
            <a:chExt cx="5127480" cy="4923360"/>
          </a:xfrm>
        </p:grpSpPr>
        <p:sp>
          <p:nvSpPr>
            <p:cNvPr id="268" name="Google Shape;268;p11"/>
            <p:cNvSpPr/>
            <p:nvPr/>
          </p:nvSpPr>
          <p:spPr>
            <a:xfrm>
              <a:off x="7063560" y="5798520"/>
              <a:ext cx="12232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10936440" y="1330920"/>
              <a:ext cx="1254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11"/>
          <p:cNvGrpSpPr/>
          <p:nvPr/>
        </p:nvGrpSpPr>
        <p:grpSpPr>
          <a:xfrm>
            <a:off x="7125840" y="1644480"/>
            <a:ext cx="5124960" cy="5021640"/>
            <a:chOff x="7125840" y="1644480"/>
            <a:chExt cx="5124960" cy="5021640"/>
          </a:xfrm>
        </p:grpSpPr>
        <p:sp>
          <p:nvSpPr>
            <p:cNvPr id="271" name="Google Shape;271;p11"/>
            <p:cNvSpPr/>
            <p:nvPr/>
          </p:nvSpPr>
          <p:spPr>
            <a:xfrm>
              <a:off x="7125840" y="6210360"/>
              <a:ext cx="12232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= cat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11094120" y="1644480"/>
              <a:ext cx="11566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= dog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11"/>
          <p:cNvSpPr/>
          <p:nvPr/>
        </p:nvSpPr>
        <p:spPr>
          <a:xfrm>
            <a:off x="8901000" y="6453360"/>
            <a:ext cx="30312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Kaggle, Cat &amp; Dog dataset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278280" y="200880"/>
            <a:ext cx="11433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Classification of Two Different Datasets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12"/>
          <p:cNvPicPr preferRelativeResize="0"/>
          <p:nvPr/>
        </p:nvPicPr>
        <p:blipFill rotWithShape="1">
          <a:blip r:embed="rId3">
            <a:alphaModFix/>
          </a:blip>
          <a:srcRect b="12896" l="7364" r="53175" t="16188"/>
          <a:stretch/>
        </p:blipFill>
        <p:spPr>
          <a:xfrm rot="-2956200">
            <a:off x="1067040" y="4007880"/>
            <a:ext cx="2204280" cy="15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2"/>
          <p:cNvPicPr preferRelativeResize="0"/>
          <p:nvPr/>
        </p:nvPicPr>
        <p:blipFill rotWithShape="1">
          <a:blip r:embed="rId3">
            <a:alphaModFix/>
          </a:blip>
          <a:srcRect b="12896" l="49016" r="8877" t="16188"/>
          <a:stretch/>
        </p:blipFill>
        <p:spPr>
          <a:xfrm rot="-3085200">
            <a:off x="2685240" y="2071800"/>
            <a:ext cx="2161080" cy="14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/>
          <p:nvPr/>
        </p:nvSpPr>
        <p:spPr>
          <a:xfrm>
            <a:off x="263520" y="933840"/>
            <a:ext cx="5976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각 데이터는 결정경계를 기준으로 분류됨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2"/>
          <p:cNvGrpSpPr/>
          <p:nvPr/>
        </p:nvGrpSpPr>
        <p:grpSpPr>
          <a:xfrm>
            <a:off x="436479" y="1557171"/>
            <a:ext cx="3859041" cy="3239829"/>
            <a:chOff x="436479" y="1557171"/>
            <a:chExt cx="3859041" cy="3239829"/>
          </a:xfrm>
        </p:grpSpPr>
        <p:cxnSp>
          <p:nvCxnSpPr>
            <p:cNvPr id="284" name="Google Shape;284;p12"/>
            <p:cNvCxnSpPr/>
            <p:nvPr/>
          </p:nvCxnSpPr>
          <p:spPr>
            <a:xfrm>
              <a:off x="1775520" y="2852640"/>
              <a:ext cx="2520000" cy="1944360"/>
            </a:xfrm>
            <a:prstGeom prst="straightConnector1">
              <a:avLst/>
            </a:prstGeom>
            <a:noFill/>
            <a:ln cap="flat" cmpd="sng" w="1907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285" name="Google Shape;285;p12"/>
            <p:cNvSpPr/>
            <p:nvPr/>
          </p:nvSpPr>
          <p:spPr>
            <a:xfrm rot="-2841000">
              <a:off x="446040" y="209196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12"/>
          <p:cNvSpPr/>
          <p:nvPr/>
        </p:nvSpPr>
        <p:spPr>
          <a:xfrm>
            <a:off x="366480" y="5798520"/>
            <a:ext cx="12232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Class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239720" y="1330920"/>
            <a:ext cx="1254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A0000"/>
                </a:solidFill>
                <a:latin typeface="Arial"/>
                <a:ea typeface="Arial"/>
                <a:cs typeface="Arial"/>
                <a:sym typeface="Arial"/>
              </a:rPr>
              <a:t>Class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12"/>
          <p:cNvGrpSpPr/>
          <p:nvPr/>
        </p:nvGrpSpPr>
        <p:grpSpPr>
          <a:xfrm>
            <a:off x="429120" y="1644480"/>
            <a:ext cx="5124960" cy="5021640"/>
            <a:chOff x="429120" y="1644480"/>
            <a:chExt cx="5124960" cy="5021640"/>
          </a:xfrm>
        </p:grpSpPr>
        <p:sp>
          <p:nvSpPr>
            <p:cNvPr id="289" name="Google Shape;289;p12"/>
            <p:cNvSpPr/>
            <p:nvPr/>
          </p:nvSpPr>
          <p:spPr>
            <a:xfrm>
              <a:off x="429120" y="6210360"/>
              <a:ext cx="12232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= cat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4397400" y="1644480"/>
              <a:ext cx="115668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= dog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12"/>
          <p:cNvSpPr/>
          <p:nvPr/>
        </p:nvSpPr>
        <p:spPr>
          <a:xfrm>
            <a:off x="8901000" y="6453360"/>
            <a:ext cx="30312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Kaggle, Cat &amp; Dog dataset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12"/>
          <p:cNvGrpSpPr/>
          <p:nvPr/>
        </p:nvGrpSpPr>
        <p:grpSpPr>
          <a:xfrm>
            <a:off x="6311880" y="933840"/>
            <a:ext cx="5688000" cy="3820320"/>
            <a:chOff x="6311880" y="933840"/>
            <a:chExt cx="5688000" cy="3820320"/>
          </a:xfrm>
        </p:grpSpPr>
        <p:pic>
          <p:nvPicPr>
            <p:cNvPr id="293" name="Google Shape;293;p12"/>
            <p:cNvPicPr preferRelativeResize="0"/>
            <p:nvPr/>
          </p:nvPicPr>
          <p:blipFill rotWithShape="1">
            <a:blip r:embed="rId3">
              <a:alphaModFix/>
            </a:blip>
            <a:srcRect b="12896" l="7364" r="53175" t="16188"/>
            <a:stretch/>
          </p:blipFill>
          <p:spPr>
            <a:xfrm>
              <a:off x="6713280" y="315504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2"/>
            <p:cNvPicPr preferRelativeResize="0"/>
            <p:nvPr/>
          </p:nvPicPr>
          <p:blipFill rotWithShape="1">
            <a:blip r:embed="rId3">
              <a:alphaModFix/>
            </a:blip>
            <a:srcRect b="12896" l="49016" r="8877" t="16188"/>
            <a:stretch/>
          </p:blipFill>
          <p:spPr>
            <a:xfrm>
              <a:off x="9336240" y="315504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2"/>
            <p:cNvSpPr/>
            <p:nvPr/>
          </p:nvSpPr>
          <p:spPr>
            <a:xfrm>
              <a:off x="6311880" y="933840"/>
              <a:ext cx="56880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Q: 이런 Dataset은 어떻게 분류할까요?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12"/>
          <p:cNvGrpSpPr/>
          <p:nvPr/>
        </p:nvGrpSpPr>
        <p:grpSpPr>
          <a:xfrm>
            <a:off x="8212680" y="1503720"/>
            <a:ext cx="1814400" cy="4229280"/>
            <a:chOff x="8212680" y="1503720"/>
            <a:chExt cx="1814400" cy="4229280"/>
          </a:xfrm>
        </p:grpSpPr>
        <p:cxnSp>
          <p:nvCxnSpPr>
            <p:cNvPr id="297" name="Google Shape;297;p12"/>
            <p:cNvCxnSpPr/>
            <p:nvPr/>
          </p:nvCxnSpPr>
          <p:spPr>
            <a:xfrm>
              <a:off x="9120240" y="2420640"/>
              <a:ext cx="360" cy="3312360"/>
            </a:xfrm>
            <a:prstGeom prst="straightConnector1">
              <a:avLst/>
            </a:prstGeom>
            <a:noFill/>
            <a:ln cap="flat" cmpd="sng" w="19075">
              <a:solidFill>
                <a:srgbClr val="FF6699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298" name="Google Shape;298;p12"/>
            <p:cNvSpPr/>
            <p:nvPr/>
          </p:nvSpPr>
          <p:spPr>
            <a:xfrm>
              <a:off x="8212680" y="150372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6699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6699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2"/>
          <p:cNvGrpSpPr/>
          <p:nvPr/>
        </p:nvGrpSpPr>
        <p:grpSpPr>
          <a:xfrm>
            <a:off x="6812640" y="4928760"/>
            <a:ext cx="4683240" cy="824760"/>
            <a:chOff x="6812640" y="4928760"/>
            <a:chExt cx="4683240" cy="824760"/>
          </a:xfrm>
        </p:grpSpPr>
        <p:sp>
          <p:nvSpPr>
            <p:cNvPr id="300" name="Google Shape;300;p12"/>
            <p:cNvSpPr/>
            <p:nvPr/>
          </p:nvSpPr>
          <p:spPr>
            <a:xfrm>
              <a:off x="6812640" y="4928760"/>
              <a:ext cx="208764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 (cat)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9478800" y="4932720"/>
              <a:ext cx="2017080" cy="8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 (dog)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2"/>
          <p:cNvSpPr/>
          <p:nvPr/>
        </p:nvSpPr>
        <p:spPr>
          <a:xfrm>
            <a:off x="4627440" y="6013800"/>
            <a:ext cx="33166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용어: (머신 러닝) 모델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278280" y="200880"/>
            <a:ext cx="11433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What if?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8901000" y="6453360"/>
            <a:ext cx="30312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Kaggle, Cat &amp; Dog dataset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13"/>
          <p:cNvGrpSpPr/>
          <p:nvPr/>
        </p:nvGrpSpPr>
        <p:grpSpPr>
          <a:xfrm>
            <a:off x="6713280" y="3155040"/>
            <a:ext cx="4784040" cy="1599120"/>
            <a:chOff x="6713280" y="3155040"/>
            <a:chExt cx="4784040" cy="1599120"/>
          </a:xfrm>
        </p:grpSpPr>
        <p:pic>
          <p:nvPicPr>
            <p:cNvPr id="311" name="Google Shape;311;p13"/>
            <p:cNvPicPr preferRelativeResize="0"/>
            <p:nvPr/>
          </p:nvPicPr>
          <p:blipFill rotWithShape="1">
            <a:blip r:embed="rId3">
              <a:alphaModFix/>
            </a:blip>
            <a:srcRect b="12896" l="7364" r="53175" t="16188"/>
            <a:stretch/>
          </p:blipFill>
          <p:spPr>
            <a:xfrm>
              <a:off x="6713280" y="315504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3"/>
            <p:cNvPicPr preferRelativeResize="0"/>
            <p:nvPr/>
          </p:nvPicPr>
          <p:blipFill rotWithShape="1">
            <a:blip r:embed="rId3">
              <a:alphaModFix/>
            </a:blip>
            <a:srcRect b="12896" l="49016" r="8877" t="16188"/>
            <a:stretch/>
          </p:blipFill>
          <p:spPr>
            <a:xfrm>
              <a:off x="9336240" y="315504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3" name="Google Shape;313;p13"/>
          <p:cNvGrpSpPr/>
          <p:nvPr/>
        </p:nvGrpSpPr>
        <p:grpSpPr>
          <a:xfrm>
            <a:off x="6812640" y="4928760"/>
            <a:ext cx="4683240" cy="824760"/>
            <a:chOff x="6812640" y="4928760"/>
            <a:chExt cx="4683240" cy="824760"/>
          </a:xfrm>
        </p:grpSpPr>
        <p:sp>
          <p:nvSpPr>
            <p:cNvPr id="314" name="Google Shape;314;p13"/>
            <p:cNvSpPr/>
            <p:nvPr/>
          </p:nvSpPr>
          <p:spPr>
            <a:xfrm>
              <a:off x="6812640" y="4928760"/>
              <a:ext cx="208764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 (cat)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9478800" y="4932720"/>
              <a:ext cx="2017080" cy="8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 (dog)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13"/>
          <p:cNvGrpSpPr/>
          <p:nvPr/>
        </p:nvGrpSpPr>
        <p:grpSpPr>
          <a:xfrm>
            <a:off x="6341199" y="1557171"/>
            <a:ext cx="3859041" cy="3239829"/>
            <a:chOff x="6341199" y="1557171"/>
            <a:chExt cx="3859041" cy="3239829"/>
          </a:xfrm>
        </p:grpSpPr>
        <p:cxnSp>
          <p:nvCxnSpPr>
            <p:cNvPr id="317" name="Google Shape;317;p13"/>
            <p:cNvCxnSpPr/>
            <p:nvPr/>
          </p:nvCxnSpPr>
          <p:spPr>
            <a:xfrm>
              <a:off x="7679880" y="2852640"/>
              <a:ext cx="2520360" cy="1944360"/>
            </a:xfrm>
            <a:prstGeom prst="straightConnector1">
              <a:avLst/>
            </a:prstGeom>
            <a:noFill/>
            <a:ln cap="flat" cmpd="sng" w="1907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13"/>
            <p:cNvSpPr/>
            <p:nvPr/>
          </p:nvSpPr>
          <p:spPr>
            <a:xfrm rot="-2841000">
              <a:off x="6350760" y="2091960"/>
              <a:ext cx="18144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Boundary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13"/>
          <p:cNvSpPr/>
          <p:nvPr/>
        </p:nvSpPr>
        <p:spPr>
          <a:xfrm>
            <a:off x="263520" y="933840"/>
            <a:ext cx="11520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Q: Dataset에 맞지 않는 (결정경계를 가지는 머신 러닝) 모델을 쓰면 어떻게 될까?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188920" y="3023280"/>
            <a:ext cx="930600" cy="693000"/>
          </a:xfrm>
          <a:custGeom>
            <a:rect b="b" l="l" r="r" t="t"/>
            <a:pathLst>
              <a:path extrusionOk="0" h="772160" w="1010991">
                <a:moveTo>
                  <a:pt x="330200" y="523240"/>
                </a:moveTo>
                <a:lnTo>
                  <a:pt x="675640" y="772160"/>
                </a:lnTo>
                <a:lnTo>
                  <a:pt x="1000760" y="558800"/>
                </a:lnTo>
                <a:cubicBezTo>
                  <a:pt x="1002453" y="541867"/>
                  <a:pt x="1003252" y="524820"/>
                  <a:pt x="1005840" y="508000"/>
                </a:cubicBezTo>
                <a:cubicBezTo>
                  <a:pt x="1011991" y="468019"/>
                  <a:pt x="1010920" y="511731"/>
                  <a:pt x="1010920" y="482600"/>
                </a:cubicBezTo>
                <a:lnTo>
                  <a:pt x="929640" y="223520"/>
                </a:lnTo>
                <a:cubicBezTo>
                  <a:pt x="914400" y="211667"/>
                  <a:pt x="899984" y="198670"/>
                  <a:pt x="883920" y="187960"/>
                </a:cubicBezTo>
                <a:cubicBezTo>
                  <a:pt x="879465" y="184990"/>
                  <a:pt x="868680" y="182880"/>
                  <a:pt x="868680" y="182880"/>
                </a:cubicBezTo>
                <a:lnTo>
                  <a:pt x="518160" y="25400"/>
                </a:lnTo>
                <a:lnTo>
                  <a:pt x="467360" y="0"/>
                </a:lnTo>
                <a:lnTo>
                  <a:pt x="71120" y="0"/>
                </a:lnTo>
                <a:lnTo>
                  <a:pt x="0" y="177800"/>
                </a:lnTo>
                <a:lnTo>
                  <a:pt x="60960" y="325120"/>
                </a:lnTo>
                <a:lnTo>
                  <a:pt x="330200" y="523240"/>
                </a:lnTo>
                <a:close/>
              </a:path>
            </a:pathLst>
          </a:custGeom>
          <a:noFill/>
          <a:ln cap="flat" cmpd="sng" w="25400">
            <a:solidFill>
              <a:srgbClr val="9A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9250560" y="4175640"/>
            <a:ext cx="588600" cy="476640"/>
          </a:xfrm>
          <a:custGeom>
            <a:rect b="b" l="l" r="r" t="t"/>
            <a:pathLst>
              <a:path extrusionOk="0" h="619760" w="589280">
                <a:moveTo>
                  <a:pt x="96520" y="0"/>
                </a:moveTo>
                <a:lnTo>
                  <a:pt x="406400" y="208280"/>
                </a:lnTo>
                <a:lnTo>
                  <a:pt x="589280" y="401320"/>
                </a:lnTo>
                <a:lnTo>
                  <a:pt x="574040" y="523240"/>
                </a:lnTo>
                <a:lnTo>
                  <a:pt x="345440" y="604520"/>
                </a:lnTo>
                <a:cubicBezTo>
                  <a:pt x="272644" y="614919"/>
                  <a:pt x="298267" y="614680"/>
                  <a:pt x="269240" y="614680"/>
                </a:cubicBezTo>
                <a:lnTo>
                  <a:pt x="96520" y="619760"/>
                </a:lnTo>
                <a:cubicBezTo>
                  <a:pt x="86360" y="607907"/>
                  <a:pt x="74993" y="596990"/>
                  <a:pt x="66040" y="584200"/>
                </a:cubicBezTo>
                <a:cubicBezTo>
                  <a:pt x="62969" y="579813"/>
                  <a:pt x="60960" y="568960"/>
                  <a:pt x="60960" y="568960"/>
                </a:cubicBezTo>
                <a:lnTo>
                  <a:pt x="0" y="401320"/>
                </a:lnTo>
                <a:lnTo>
                  <a:pt x="40640" y="208280"/>
                </a:lnTo>
                <a:lnTo>
                  <a:pt x="96520" y="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053200" y="2376360"/>
            <a:ext cx="256572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Error, 오류 발생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3"/>
          <p:cNvGrpSpPr/>
          <p:nvPr/>
        </p:nvGrpSpPr>
        <p:grpSpPr>
          <a:xfrm>
            <a:off x="366480" y="1330920"/>
            <a:ext cx="5127840" cy="5289120"/>
            <a:chOff x="366480" y="1330920"/>
            <a:chExt cx="5127840" cy="5289120"/>
          </a:xfrm>
        </p:grpSpPr>
        <p:pic>
          <p:nvPicPr>
            <p:cNvPr id="324" name="Google Shape;324;p13"/>
            <p:cNvPicPr preferRelativeResize="0"/>
            <p:nvPr/>
          </p:nvPicPr>
          <p:blipFill rotWithShape="1">
            <a:blip r:embed="rId3">
              <a:alphaModFix/>
            </a:blip>
            <a:srcRect b="12896" l="7364" r="53175" t="16188"/>
            <a:stretch/>
          </p:blipFill>
          <p:spPr>
            <a:xfrm rot="-2956200">
              <a:off x="1067040" y="4007880"/>
              <a:ext cx="2204280" cy="159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3"/>
            <p:cNvPicPr preferRelativeResize="0"/>
            <p:nvPr/>
          </p:nvPicPr>
          <p:blipFill rotWithShape="1">
            <a:blip r:embed="rId3">
              <a:alphaModFix/>
            </a:blip>
            <a:srcRect b="12896" l="49016" r="8877" t="16188"/>
            <a:stretch/>
          </p:blipFill>
          <p:spPr>
            <a:xfrm rot="-3085200">
              <a:off x="2685240" y="2071800"/>
              <a:ext cx="2161080" cy="1469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3"/>
            <p:cNvSpPr/>
            <p:nvPr/>
          </p:nvSpPr>
          <p:spPr>
            <a:xfrm>
              <a:off x="366480" y="5798520"/>
              <a:ext cx="122328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Class 1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 (cat)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4239720" y="1330920"/>
              <a:ext cx="1254600" cy="82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Class 2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9A0000"/>
                  </a:solidFill>
                  <a:latin typeface="Arial"/>
                  <a:ea typeface="Arial"/>
                  <a:cs typeface="Arial"/>
                  <a:sym typeface="Arial"/>
                </a:rPr>
                <a:t> (dog)</a:t>
              </a:r>
              <a:endParaRPr b="0" i="0" sz="2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8" name="Google Shape;328;p13"/>
            <p:cNvGrpSpPr/>
            <p:nvPr/>
          </p:nvGrpSpPr>
          <p:grpSpPr>
            <a:xfrm>
              <a:off x="1976400" y="1503720"/>
              <a:ext cx="1814400" cy="4229280"/>
              <a:chOff x="1976400" y="1503720"/>
              <a:chExt cx="1814400" cy="4229280"/>
            </a:xfrm>
          </p:grpSpPr>
          <p:cxnSp>
            <p:nvCxnSpPr>
              <p:cNvPr id="329" name="Google Shape;329;p13"/>
              <p:cNvCxnSpPr/>
              <p:nvPr/>
            </p:nvCxnSpPr>
            <p:spPr>
              <a:xfrm>
                <a:off x="2883960" y="2420640"/>
                <a:ext cx="360" cy="3312360"/>
              </a:xfrm>
              <a:prstGeom prst="straightConnector1">
                <a:avLst/>
              </a:prstGeom>
              <a:noFill/>
              <a:ln cap="flat" cmpd="sng" w="19075">
                <a:solidFill>
                  <a:srgbClr val="FF6699"/>
                </a:solidFill>
                <a:prstDash val="dash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330" name="Google Shape;330;p13"/>
              <p:cNvSpPr/>
              <p:nvPr/>
            </p:nvSpPr>
            <p:spPr>
              <a:xfrm>
                <a:off x="1976400" y="1503720"/>
                <a:ext cx="1814400" cy="82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rgbClr val="FF6699"/>
                    </a:solidFill>
                    <a:latin typeface="Arial"/>
                    <a:ea typeface="Arial"/>
                    <a:cs typeface="Arial"/>
                    <a:sym typeface="Arial"/>
                  </a:rPr>
                  <a:t>Decision</a:t>
                </a:r>
                <a:endParaRPr b="0" i="0" sz="24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rgbClr val="FF6699"/>
                    </a:solidFill>
                    <a:latin typeface="Arial"/>
                    <a:ea typeface="Arial"/>
                    <a:cs typeface="Arial"/>
                    <a:sym typeface="Arial"/>
                  </a:rPr>
                  <a:t>Boundary</a:t>
                </a:r>
                <a:endParaRPr b="0" i="0" sz="2400" u="none" cap="none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1" name="Google Shape;331;p13"/>
          <p:cNvSpPr/>
          <p:nvPr/>
        </p:nvSpPr>
        <p:spPr>
          <a:xfrm>
            <a:off x="2865240" y="4018320"/>
            <a:ext cx="822240" cy="1076400"/>
          </a:xfrm>
          <a:custGeom>
            <a:rect b="b" l="l" r="r" t="t"/>
            <a:pathLst>
              <a:path extrusionOk="0" h="1076960" w="822960">
                <a:moveTo>
                  <a:pt x="0" y="436880"/>
                </a:moveTo>
                <a:lnTo>
                  <a:pt x="45720" y="909320"/>
                </a:lnTo>
                <a:lnTo>
                  <a:pt x="370840" y="1076960"/>
                </a:lnTo>
                <a:lnTo>
                  <a:pt x="822960" y="482600"/>
                </a:lnTo>
                <a:lnTo>
                  <a:pt x="528320" y="167640"/>
                </a:lnTo>
                <a:lnTo>
                  <a:pt x="238760" y="0"/>
                </a:lnTo>
                <a:lnTo>
                  <a:pt x="20320" y="157480"/>
                </a:lnTo>
                <a:lnTo>
                  <a:pt x="30480" y="553720"/>
                </a:lnTo>
              </a:path>
            </a:pathLst>
          </a:custGeom>
          <a:noFill/>
          <a:ln cap="flat" cmpd="sng" w="25400">
            <a:solidFill>
              <a:srgbClr val="9A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3"/>
          <p:cNvSpPr/>
          <p:nvPr/>
        </p:nvSpPr>
        <p:spPr>
          <a:xfrm>
            <a:off x="2346840" y="2910960"/>
            <a:ext cx="532800" cy="527760"/>
          </a:xfrm>
          <a:custGeom>
            <a:rect b="b" l="l" r="r" t="t"/>
            <a:pathLst>
              <a:path extrusionOk="0" h="528320" w="533400">
                <a:moveTo>
                  <a:pt x="533400" y="269240"/>
                </a:moveTo>
                <a:lnTo>
                  <a:pt x="421640" y="528320"/>
                </a:lnTo>
                <a:lnTo>
                  <a:pt x="218440" y="487680"/>
                </a:lnTo>
                <a:lnTo>
                  <a:pt x="0" y="284480"/>
                </a:lnTo>
                <a:lnTo>
                  <a:pt x="55880" y="127000"/>
                </a:lnTo>
                <a:lnTo>
                  <a:pt x="198120" y="25400"/>
                </a:lnTo>
                <a:lnTo>
                  <a:pt x="381000" y="0"/>
                </a:lnTo>
                <a:lnTo>
                  <a:pt x="472440" y="25400"/>
                </a:lnTo>
                <a:lnTo>
                  <a:pt x="502920" y="81280"/>
                </a:lnTo>
                <a:lnTo>
                  <a:pt x="528320" y="187960"/>
                </a:lnTo>
                <a:lnTo>
                  <a:pt x="533400" y="26924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"/>
          <p:cNvSpPr/>
          <p:nvPr/>
        </p:nvSpPr>
        <p:spPr>
          <a:xfrm rot="-3076200">
            <a:off x="1508760" y="2763000"/>
            <a:ext cx="10332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727880" y="6016680"/>
            <a:ext cx="28908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A: 정확도가 떨어짐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40" y="869400"/>
            <a:ext cx="11238840" cy="601524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/>
          <p:nvPr/>
        </p:nvSpPr>
        <p:spPr>
          <a:xfrm>
            <a:off x="4425840" y="6565680"/>
            <a:ext cx="3041280" cy="326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Src: http://playground.tensorflow.org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278280" y="200880"/>
            <a:ext cx="11433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Demo: Binary Classification with Basic Classifier 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/>
          <p:nvPr/>
        </p:nvSpPr>
        <p:spPr>
          <a:xfrm>
            <a:off x="5922360" y="2041560"/>
            <a:ext cx="626904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350" lIns="108700" spcFirstLastPara="1" rIns="108700" wrap="square" tIns="5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1. 좌측에서 DATA를 선택합니다 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       그림 위에 마우스 커서를 올리면 이름이 보입니다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2. 상단의 메뉴에서 Activation을 선택합니다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3. 상단 메뉴의 재생버튼을 눌러서 학습을 시작합니다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4. 우측 OUTPUT의 그래프에 생긴 변화를 관찰합니다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5. (일시)정지 버튼을 눌러서 학습을 종료합니다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6. 색이 다른 데이터의 분류가 잘 됐는지 확인합니다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" name="Google Shape;348;p15"/>
          <p:cNvGraphicFramePr/>
          <p:nvPr/>
        </p:nvGraphicFramePr>
        <p:xfrm>
          <a:off x="356760" y="516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{EAC09219-FD1A-4E64-AFF6-C5BFC19271E1}</a:tableStyleId>
              </a:tblPr>
              <a:tblGrid>
                <a:gridCol w="2427125"/>
                <a:gridCol w="2319850"/>
                <a:gridCol w="2000150"/>
                <a:gridCol w="2144525"/>
                <a:gridCol w="2419925"/>
              </a:tblGrid>
              <a:tr h="44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 1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 2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 3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 4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Gaussian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Circle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Gaussian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Circle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Activation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Sigmoid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Sigmoid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44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분류의 성공 여부?</a:t>
                      </a:r>
                      <a:endParaRPr b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8725" marL="1087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349" name="Google Shape;3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80" y="2037600"/>
            <a:ext cx="5563440" cy="3047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96120" y="2647080"/>
            <a:ext cx="687240" cy="870120"/>
          </a:xfrm>
          <a:prstGeom prst="rect">
            <a:avLst/>
          </a:prstGeom>
          <a:noFill/>
          <a:ln cap="flat" cmpd="sng" w="360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2518200" y="2060640"/>
            <a:ext cx="687240" cy="324360"/>
          </a:xfrm>
          <a:prstGeom prst="rect">
            <a:avLst/>
          </a:prstGeom>
          <a:noFill/>
          <a:ln cap="flat" cmpd="sng" w="360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139680" y="2060640"/>
            <a:ext cx="687240" cy="324360"/>
          </a:xfrm>
          <a:prstGeom prst="rect">
            <a:avLst/>
          </a:prstGeom>
          <a:noFill/>
          <a:ln cap="flat" cmpd="sng" w="360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4336200" y="2682720"/>
            <a:ext cx="1323360" cy="1792080"/>
          </a:xfrm>
          <a:prstGeom prst="rect">
            <a:avLst/>
          </a:prstGeom>
          <a:noFill/>
          <a:ln cap="flat" cmpd="sng" w="36000">
            <a:solidFill>
              <a:srgbClr val="ED1C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813240" y="807840"/>
            <a:ext cx="55404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350" lIns="108700" spcFirstLastPara="1" rIns="108700" wrap="square" tIns="5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1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http://playground.tensorflow.org</a:t>
            </a:r>
            <a:endParaRPr b="0" i="0" sz="291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60" y="-2880"/>
            <a:ext cx="1218996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350" lIns="108700" spcFirstLastPara="1" rIns="108700" wrap="square" tIns="54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실습: Binary Classification with Basic Classifiers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3690360" y="1410480"/>
            <a:ext cx="4644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(시간 상) 설명은 Skip합니다.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6095520" y="893520"/>
            <a:ext cx="55720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에 접속해서 실습해보시길 권장합니다.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Supervised Learning Tasks/Problems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4516560" y="6453360"/>
            <a:ext cx="46796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Src: </a:t>
            </a:r>
            <a:r>
              <a:rPr b="0" i="0" lang="en-US" sz="1200" u="sng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basis of Machine Learning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Maël Fabien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6599880" y="5229360"/>
            <a:ext cx="417564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Dataset을 구분하는 기준인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Decision Boundary에 맞게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Curve Fitting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1559520" y="5220360"/>
            <a:ext cx="4031640" cy="118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Dataset를 잘 나타내도록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Function Approximation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(Curve Fitting)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7176240" y="1001160"/>
            <a:ext cx="308088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Classification, 분류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1919520" y="870840"/>
            <a:ext cx="30808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Regression, 회귀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(Curve fitting)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6"/>
          <p:cNvPicPr preferRelativeResize="0"/>
          <p:nvPr/>
        </p:nvPicPr>
        <p:blipFill rotWithShape="1">
          <a:blip r:embed="rId4">
            <a:alphaModFix/>
          </a:blip>
          <a:srcRect b="21170" l="49993" r="11191" t="4638"/>
          <a:stretch/>
        </p:blipFill>
        <p:spPr>
          <a:xfrm>
            <a:off x="1487520" y="1700640"/>
            <a:ext cx="4247640" cy="345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6"/>
          <p:cNvPicPr preferRelativeResize="0"/>
          <p:nvPr/>
        </p:nvPicPr>
        <p:blipFill rotWithShape="1">
          <a:blip r:embed="rId4">
            <a:alphaModFix/>
          </a:blip>
          <a:srcRect b="25800" l="53941" r="17113" t="12365"/>
          <a:stretch/>
        </p:blipFill>
        <p:spPr>
          <a:xfrm rot="10800000">
            <a:off x="8326440" y="7762680"/>
            <a:ext cx="3167640" cy="287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/>
          <p:cNvPicPr preferRelativeResize="0"/>
          <p:nvPr/>
        </p:nvPicPr>
        <p:blipFill rotWithShape="1">
          <a:blip r:embed="rId4">
            <a:alphaModFix/>
          </a:blip>
          <a:srcRect b="21170" l="7237" r="53951" t="4638"/>
          <a:stretch/>
        </p:blipFill>
        <p:spPr>
          <a:xfrm>
            <a:off x="6480360" y="1700640"/>
            <a:ext cx="4247640" cy="345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/>
          <p:nvPr/>
        </p:nvSpPr>
        <p:spPr>
          <a:xfrm>
            <a:off x="278280" y="1989000"/>
            <a:ext cx="3728880" cy="380484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191520" y="1428840"/>
            <a:ext cx="395964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17"/>
          <p:cNvGrpSpPr/>
          <p:nvPr/>
        </p:nvGrpSpPr>
        <p:grpSpPr>
          <a:xfrm>
            <a:off x="598680" y="2235240"/>
            <a:ext cx="3120480" cy="3198240"/>
            <a:chOff x="598680" y="2235240"/>
            <a:chExt cx="3120480" cy="3198240"/>
          </a:xfrm>
        </p:grpSpPr>
        <p:sp>
          <p:nvSpPr>
            <p:cNvPr id="380" name="Google Shape;380;p17"/>
            <p:cNvSpPr/>
            <p:nvPr/>
          </p:nvSpPr>
          <p:spPr>
            <a:xfrm>
              <a:off x="598680" y="2697840"/>
              <a:ext cx="3048120" cy="2735640"/>
            </a:xfrm>
            <a:prstGeom prst="ellipse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71040" y="2235240"/>
              <a:ext cx="3048120" cy="39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Machine Learning (ML)</a:t>
              </a:r>
              <a:endParaRPr b="0" i="0" sz="20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7"/>
          <p:cNvGrpSpPr/>
          <p:nvPr/>
        </p:nvGrpSpPr>
        <p:grpSpPr>
          <a:xfrm>
            <a:off x="1055520" y="3280680"/>
            <a:ext cx="2360520" cy="1537560"/>
            <a:chOff x="1055520" y="3280680"/>
            <a:chExt cx="2360520" cy="1537560"/>
          </a:xfrm>
        </p:grpSpPr>
        <p:sp>
          <p:nvSpPr>
            <p:cNvPr id="383" name="Google Shape;383;p17"/>
            <p:cNvSpPr/>
            <p:nvPr/>
          </p:nvSpPr>
          <p:spPr>
            <a:xfrm>
              <a:off x="1659240" y="3810960"/>
              <a:ext cx="820800" cy="100728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1055520" y="3280680"/>
              <a:ext cx="236052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 (DL)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17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17"/>
          <p:cNvPicPr preferRelativeResize="0"/>
          <p:nvPr/>
        </p:nvPicPr>
        <p:blipFill rotWithShape="1">
          <a:blip r:embed="rId3">
            <a:alphaModFix/>
          </a:blip>
          <a:srcRect b="7349" l="4523" r="15743" t="27550"/>
          <a:stretch/>
        </p:blipFill>
        <p:spPr>
          <a:xfrm>
            <a:off x="4218480" y="1857960"/>
            <a:ext cx="7642800" cy="32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"/>
          <p:cNvSpPr/>
          <p:nvPr/>
        </p:nvSpPr>
        <p:spPr>
          <a:xfrm>
            <a:off x="2459520" y="2277000"/>
            <a:ext cx="7272000" cy="13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2017-11-29T00:28:57Z</dcterms:created>
  <dc:creator>Tae-Hyung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24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28</vt:i4>
  </property>
</Properties>
</file>
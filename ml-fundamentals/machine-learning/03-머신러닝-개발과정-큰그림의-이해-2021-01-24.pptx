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6858000" cx="12192000"/>
  <p:notesSz cx="6858000" cy="9144000"/>
  <p:embeddedFontLst>
    <p:embeddedFont>
      <p:font typeface="Ubuntu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2" roundtripDataSignature="AMtx7miacjMUnLfBuq/6L9WyotkHmsQ+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Ubuntu-regular.fnt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font" Target="fonts/Ubuntu-italic.fntdata"/><Relationship Id="rId25" Type="http://schemas.openxmlformats.org/officeDocument/2006/relationships/font" Target="fonts/Ubuntu-bold.fntdata"/><Relationship Id="rId28" Type="http://schemas.openxmlformats.org/officeDocument/2006/relationships/font" Target="fonts/Roboto-regular.fntdata"/><Relationship Id="rId27" Type="http://schemas.openxmlformats.org/officeDocument/2006/relationships/font" Target="fonts/Ubuntu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layground.tensorflow.org/#activation=linear&amp;batchSize=10&amp;dataset=gauss&amp;regDataset=reg-plane&amp;learningRate=0.0001&amp;regularizationRate=0&amp;noise=0&amp;networkShape=4&amp;seed=0.2743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:notes"/>
          <p:cNvSpPr/>
          <p:nvPr>
            <p:ph idx="2" type="sldImg"/>
          </p:nvPr>
        </p:nvSpPr>
        <p:spPr>
          <a:xfrm>
            <a:off x="380880" y="685800"/>
            <a:ext cx="609480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2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:notes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:notes"/>
          <p:cNvSpPr/>
          <p:nvPr>
            <p:ph idx="2" type="sldImg"/>
          </p:nvPr>
        </p:nvSpPr>
        <p:spPr>
          <a:xfrm>
            <a:off x="380880" y="685800"/>
            <a:ext cx="609480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3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:notes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/>
          <p:nvPr>
            <p:ph idx="2" type="sldImg"/>
          </p:nvPr>
        </p:nvSpPr>
        <p:spPr>
          <a:xfrm>
            <a:off x="380880" y="685800"/>
            <a:ext cx="609480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4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:notes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/>
          <p:nvPr>
            <p:ph idx="2" type="sldImg"/>
          </p:nvPr>
        </p:nvSpPr>
        <p:spPr>
          <a:xfrm>
            <a:off x="380880" y="685800"/>
            <a:ext cx="609480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개발직군 채용공고 </a:t>
            </a:r>
            <a:r>
              <a:rPr b="0" lang="en-US" sz="9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https://www.woowahan.com/#/recruit/tech</a:t>
            </a:r>
            <a:endParaRPr b="0" sz="96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해외/국내에서 인공지능 직무 수행을 위해 요구하는 </a:t>
            </a:r>
            <a:endParaRPr b="0" sz="9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:notes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/>
          <p:nvPr>
            <p:ph idx="2" type="sldImg"/>
          </p:nvPr>
        </p:nvSpPr>
        <p:spPr>
          <a:xfrm>
            <a:off x="380880" y="685800"/>
            <a:ext cx="609480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:notes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/>
          <p:nvPr>
            <p:ph idx="2" type="sldImg"/>
          </p:nvPr>
        </p:nvSpPr>
        <p:spPr>
          <a:xfrm>
            <a:off x="380880" y="685800"/>
            <a:ext cx="609480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:notes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164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layground.tensorflow.org/#activation=linear&amp;batchSize=10&amp;dataset=gauss&amp;regDataset=reg-plane&amp;learningRate=0.0001&amp;regularizationRate=0&amp;noise=0&amp;networkShape=4&amp;seed=0.27433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5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c6f45af8e3_0_0:notes"/>
          <p:cNvSpPr/>
          <p:nvPr>
            <p:ph idx="2" type="sldImg"/>
          </p:nvPr>
        </p:nvSpPr>
        <p:spPr>
          <a:xfrm>
            <a:off x="380880" y="685800"/>
            <a:ext cx="6094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c6f45af8e3_0_0:notes"/>
          <p:cNvSpPr txBox="1"/>
          <p:nvPr>
            <p:ph idx="1" type="body"/>
          </p:nvPr>
        </p:nvSpPr>
        <p:spPr>
          <a:xfrm>
            <a:off x="685800" y="4343400"/>
            <a:ext cx="54849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5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5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5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5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5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c6f45af8e3_0_0:notes"/>
          <p:cNvSpPr/>
          <p:nvPr/>
        </p:nvSpPr>
        <p:spPr>
          <a:xfrm>
            <a:off x="3884760" y="868536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5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1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6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6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6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63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6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64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5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5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6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66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7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67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67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7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7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67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about:blank" TargetMode="External"/><Relationship Id="rId4" Type="http://schemas.openxmlformats.org/officeDocument/2006/relationships/hyperlink" Target="https://github.com/aimldl" TargetMode="External"/><Relationship Id="rId5" Type="http://schemas.openxmlformats.org/officeDocument/2006/relationships/hyperlink" Target="mailto:mrtonnet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arktechpost.com/2019/06/16/are-self-service-machine-learning-models-the-future-of-ai-integration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arktechpost.com/2019/06/16/are-self-service-machine-learning-models-the-future-of-ai-integration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papers.nips.cc/paper/5656-hidden-technical-debt-in-machine-learning-systems.pdf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5.png"/><Relationship Id="rId13" Type="http://schemas.openxmlformats.org/officeDocument/2006/relationships/image" Target="../media/image1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22.png"/><Relationship Id="rId1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kubeflow.org/" TargetMode="External"/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marktechpost.com/2019/06/16/are-self-service-machine-learning-models-the-future-of-ai-integration/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hyperlink" Target="https://docs.aws.amazon.com/sagemaker/latest/dg/how-it-works-mlconcepts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hyperlink" Target="http://playground.tensorflow.org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hyperlink" Target="https://youtu.be/3JQ3hYko51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"/>
          <p:cNvSpPr/>
          <p:nvPr/>
        </p:nvSpPr>
        <p:spPr>
          <a:xfrm>
            <a:off x="1487520" y="620640"/>
            <a:ext cx="9215640" cy="77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머신러닝 개발과정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큰그림의 이해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3634560" y="3645000"/>
            <a:ext cx="4606920" cy="57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김태형, 공학박사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2834640" y="5652360"/>
            <a:ext cx="6767280" cy="10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2021-01-24 (일)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Zoom 미팅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3804120" y="4972320"/>
            <a:ext cx="455400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</a:t>
            </a: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github.com/aimldl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4048920" y="4410360"/>
            <a:ext cx="40435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mrtonnet@gmail.com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"/>
          <p:cNvSpPr/>
          <p:nvPr/>
        </p:nvSpPr>
        <p:spPr>
          <a:xfrm>
            <a:off x="3316680" y="4392000"/>
            <a:ext cx="56642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출처: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Are Self-Service Machine Learning Models the Future of AI Integration?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2753640" y="1656000"/>
            <a:ext cx="6011280" cy="51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 러닝 모델 개발 과정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2"/>
          <p:cNvGrpSpPr/>
          <p:nvPr/>
        </p:nvGrpSpPr>
        <p:grpSpPr>
          <a:xfrm>
            <a:off x="16200" y="2496960"/>
            <a:ext cx="12120480" cy="1568160"/>
            <a:chOff x="16200" y="2496960"/>
            <a:chExt cx="12120480" cy="1568160"/>
          </a:xfrm>
        </p:grpSpPr>
        <p:pic>
          <p:nvPicPr>
            <p:cNvPr id="231" name="Google Shape;231;p2"/>
            <p:cNvPicPr preferRelativeResize="0"/>
            <p:nvPr/>
          </p:nvPicPr>
          <p:blipFill rotWithShape="1">
            <a:blip r:embed="rId4">
              <a:alphaModFix/>
            </a:blip>
            <a:srcRect b="0" l="0" r="0" t="45902"/>
            <a:stretch/>
          </p:blipFill>
          <p:spPr>
            <a:xfrm>
              <a:off x="16200" y="2496960"/>
              <a:ext cx="12120480" cy="1218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"/>
            <p:cNvSpPr/>
            <p:nvPr/>
          </p:nvSpPr>
          <p:spPr>
            <a:xfrm>
              <a:off x="46440" y="2565000"/>
              <a:ext cx="4440960" cy="112104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627440" y="2565360"/>
              <a:ext cx="7490880" cy="1120680"/>
            </a:xfrm>
            <a:prstGeom prst="rect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682280" y="3667320"/>
              <a:ext cx="1594800" cy="363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 Pipeline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168600" y="3701160"/>
              <a:ext cx="4480560" cy="363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558ED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 Learning Pipeline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"/>
          <p:cNvSpPr/>
          <p:nvPr/>
        </p:nvSpPr>
        <p:spPr>
          <a:xfrm>
            <a:off x="3316680" y="6588000"/>
            <a:ext cx="56642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출처: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Are Self-Service Machine Learning Models the Future of AI Integration?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3"/>
          <p:cNvGrpSpPr/>
          <p:nvPr/>
        </p:nvGrpSpPr>
        <p:grpSpPr>
          <a:xfrm>
            <a:off x="16200" y="516960"/>
            <a:ext cx="12120480" cy="1568160"/>
            <a:chOff x="16200" y="516960"/>
            <a:chExt cx="12120480" cy="1568160"/>
          </a:xfrm>
        </p:grpSpPr>
        <p:pic>
          <p:nvPicPr>
            <p:cNvPr id="243" name="Google Shape;243;p3"/>
            <p:cNvPicPr preferRelativeResize="0"/>
            <p:nvPr/>
          </p:nvPicPr>
          <p:blipFill rotWithShape="1">
            <a:blip r:embed="rId4">
              <a:alphaModFix/>
            </a:blip>
            <a:srcRect b="0" l="0" r="0" t="45902"/>
            <a:stretch/>
          </p:blipFill>
          <p:spPr>
            <a:xfrm>
              <a:off x="16200" y="516960"/>
              <a:ext cx="12120480" cy="1218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3"/>
            <p:cNvSpPr/>
            <p:nvPr/>
          </p:nvSpPr>
          <p:spPr>
            <a:xfrm>
              <a:off x="46440" y="585000"/>
              <a:ext cx="4440960" cy="112104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627440" y="585360"/>
              <a:ext cx="7490880" cy="1120680"/>
            </a:xfrm>
            <a:prstGeom prst="rect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1682280" y="1687320"/>
              <a:ext cx="1594800" cy="363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 Pipeline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6168600" y="1721160"/>
              <a:ext cx="4480560" cy="363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558ED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 Learning Pipeline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3"/>
          <p:cNvSpPr/>
          <p:nvPr/>
        </p:nvSpPr>
        <p:spPr>
          <a:xfrm>
            <a:off x="941760" y="2655360"/>
            <a:ext cx="1019916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https://colab.research.google.com/drive/17s-aQaSzp5b6S95jqoG7RaEPwPlb2Hyi?usp=sharing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4379760" y="2232000"/>
            <a:ext cx="281988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3_mnist-cnn-keras.ipynb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"/>
          <p:cNvSpPr/>
          <p:nvPr/>
        </p:nvSpPr>
        <p:spPr>
          <a:xfrm>
            <a:off x="-36000" y="2520000"/>
            <a:ext cx="12383280" cy="106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Toy Problem &lt; PoC Problem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&lt; PoC System &lt;&lt; Production System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/>
          <p:nvPr/>
        </p:nvSpPr>
        <p:spPr>
          <a:xfrm>
            <a:off x="278280" y="200880"/>
            <a:ext cx="111452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 러닝 시스템의 숨겨진 기술적 빚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80" y="1813320"/>
            <a:ext cx="11854440" cy="39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"/>
          <p:cNvSpPr/>
          <p:nvPr/>
        </p:nvSpPr>
        <p:spPr>
          <a:xfrm>
            <a:off x="4221000" y="5949360"/>
            <a:ext cx="369648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Hidden Technical Debt in Machine Learning Systems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843800" y="3885840"/>
            <a:ext cx="633240" cy="487080"/>
          </a:xfrm>
          <a:prstGeom prst="rect">
            <a:avLst/>
          </a:prstGeom>
          <a:noFill/>
          <a:ln cap="flat" cmpd="sng" w="76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1631520" y="1026000"/>
            <a:ext cx="96735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Toy Problem &lt; PoC Problem &lt; PoC System &lt;&lt; Production System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6"/>
          <p:cNvGrpSpPr/>
          <p:nvPr/>
        </p:nvGrpSpPr>
        <p:grpSpPr>
          <a:xfrm>
            <a:off x="479520" y="1057680"/>
            <a:ext cx="10872000" cy="5743800"/>
            <a:chOff x="479520" y="1057680"/>
            <a:chExt cx="10872000" cy="5743800"/>
          </a:xfrm>
        </p:grpSpPr>
        <p:grpSp>
          <p:nvGrpSpPr>
            <p:cNvPr id="271" name="Google Shape;271;p6"/>
            <p:cNvGrpSpPr/>
            <p:nvPr/>
          </p:nvGrpSpPr>
          <p:grpSpPr>
            <a:xfrm>
              <a:off x="2426220" y="4333140"/>
              <a:ext cx="3981240" cy="1234620"/>
              <a:chOff x="2426220" y="4333140"/>
              <a:chExt cx="3981240" cy="1234620"/>
            </a:xfrm>
          </p:grpSpPr>
          <p:sp>
            <p:nvSpPr>
              <p:cNvPr id="272" name="Google Shape;272;p6"/>
              <p:cNvSpPr/>
              <p:nvPr/>
            </p:nvSpPr>
            <p:spPr>
              <a:xfrm rot="-5400000">
                <a:off x="4240440" y="2518920"/>
                <a:ext cx="352800" cy="398124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rgbClr val="538C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3399120" y="4929480"/>
                <a:ext cx="2201040" cy="638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컴퓨터 및 소프트웨어</a:t>
                </a:r>
                <a:endParaRPr b="0" i="0" sz="18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관련 이공계 학과</a:t>
                </a:r>
                <a:endParaRPr b="0" i="0" sz="18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6"/>
            <p:cNvGrpSpPr/>
            <p:nvPr/>
          </p:nvGrpSpPr>
          <p:grpSpPr>
            <a:xfrm>
              <a:off x="3337560" y="5749020"/>
              <a:ext cx="1780560" cy="1052460"/>
              <a:chOff x="3337560" y="5749020"/>
              <a:chExt cx="1780560" cy="1052460"/>
            </a:xfrm>
          </p:grpSpPr>
          <p:sp>
            <p:nvSpPr>
              <p:cNvPr id="275" name="Google Shape;275;p6"/>
              <p:cNvSpPr/>
              <p:nvPr/>
            </p:nvSpPr>
            <p:spPr>
              <a:xfrm rot="-5400000">
                <a:off x="3949920" y="5350320"/>
                <a:ext cx="352800" cy="11502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rgbClr val="538C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6"/>
              <p:cNvSpPr/>
              <p:nvPr/>
            </p:nvSpPr>
            <p:spPr>
              <a:xfrm>
                <a:off x="3337560" y="6163200"/>
                <a:ext cx="1780560" cy="638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수학, 통계 등</a:t>
                </a:r>
                <a:endParaRPr b="0" i="0" sz="18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관련 이공계 학과</a:t>
                </a:r>
                <a:endParaRPr b="0" i="0" sz="18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6"/>
            <p:cNvGrpSpPr/>
            <p:nvPr/>
          </p:nvGrpSpPr>
          <p:grpSpPr>
            <a:xfrm>
              <a:off x="655560" y="4421880"/>
              <a:ext cx="1681200" cy="1079640"/>
              <a:chOff x="655560" y="4421880"/>
              <a:chExt cx="1681200" cy="1079640"/>
            </a:xfrm>
          </p:grpSpPr>
          <p:sp>
            <p:nvSpPr>
              <p:cNvPr id="278" name="Google Shape;278;p6"/>
              <p:cNvSpPr/>
              <p:nvPr/>
            </p:nvSpPr>
            <p:spPr>
              <a:xfrm rot="-5400000">
                <a:off x="1364040" y="3713400"/>
                <a:ext cx="264240" cy="16812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rgbClr val="538C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0560" y="4863240"/>
                <a:ext cx="1296000" cy="638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관련</a:t>
                </a:r>
                <a:br>
                  <a:rPr b="0" i="0" lang="en-US" sz="1800" u="none" cap="none" strike="noStrike"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이공계 학과</a:t>
                </a:r>
                <a:endParaRPr b="0" i="0" sz="18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0" name="Google Shape;28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9520" y="1057680"/>
              <a:ext cx="10872000" cy="31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6"/>
            <p:cNvSpPr/>
            <p:nvPr/>
          </p:nvSpPr>
          <p:spPr>
            <a:xfrm>
              <a:off x="656280" y="2210400"/>
              <a:ext cx="2565360" cy="638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F497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석/박사 이상 관련</a:t>
              </a:r>
              <a:br>
                <a:rPr b="0" i="0" lang="en-US" sz="1800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800" u="none" cap="none" strike="noStrike">
                  <a:solidFill>
                    <a:srgbClr val="1F497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연구 경험자 선호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3287520" y="188640"/>
            <a:ext cx="5351760" cy="7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직무직군에 따른 관련 전공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8600" y="1036800"/>
            <a:ext cx="1887840" cy="9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8080" y="2227320"/>
            <a:ext cx="992520" cy="98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6360" y="2156040"/>
            <a:ext cx="1397160" cy="84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6840" y="3022560"/>
            <a:ext cx="959040" cy="59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2560" y="2818080"/>
            <a:ext cx="1354320" cy="773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36800" y="3546720"/>
            <a:ext cx="1402200" cy="80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160" y="3532320"/>
            <a:ext cx="1854720" cy="85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03720" y="3494160"/>
            <a:ext cx="1445040" cy="78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46760" y="3675240"/>
            <a:ext cx="811440" cy="62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9600" y="3584880"/>
            <a:ext cx="1126080" cy="75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37240" y="3060720"/>
            <a:ext cx="587880" cy="5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"/>
          <p:cNvSpPr/>
          <p:nvPr/>
        </p:nvSpPr>
        <p:spPr>
          <a:xfrm>
            <a:off x="0" y="116640"/>
            <a:ext cx="12191041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Data Scientist에 요구되는 스킬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9880" y="4269240"/>
            <a:ext cx="5759640" cy="258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8"/>
          <p:cNvSpPr/>
          <p:nvPr/>
        </p:nvSpPr>
        <p:spPr>
          <a:xfrm>
            <a:off x="191520" y="1276920"/>
            <a:ext cx="5222160" cy="374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MLOps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Containerization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Docker, Kubernetes, Kubeflow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Cloud offerings 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AWS, GCP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CI/CD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Version control 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git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 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Project management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Distributed computing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API development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System design &amp; software architecture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Databases &amp; query languages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Design patterns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Functional programming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Data Structures &amp; Algorithms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다른 프로그래밍 언어 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C++, Java,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951240" y="1880640"/>
            <a:ext cx="5222160" cy="227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ML Applications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NLP, CV, Speech, Time Series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DL frameworks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TensorFlow, PyTorch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ML frameworks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scikit-learn, XGBoost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Python+SciPy패키지 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Numpy, Pandas, Matplotlib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 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Model validation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Model optimization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Probability/Statistics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Basic Mathematics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linear algebra, calculus 등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16080" y="827280"/>
            <a:ext cx="115588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 Data Scientist가 유사 분야에서 시작했듯 MLE 또한 Data Science와 Software Engineering 배경이 필요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0" y="116640"/>
            <a:ext cx="12191041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Machine Learning Engineering에 요구되는 스킬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0" y="116640"/>
            <a:ext cx="12191041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AutoML (Automated Machine Learning)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819240" y="2951280"/>
            <a:ext cx="49676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Are Self-Service Machine Learning Models the Future of AI Integration?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7520" y="1525320"/>
            <a:ext cx="7135560" cy="1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/>
          <p:nvPr/>
        </p:nvSpPr>
        <p:spPr>
          <a:xfrm>
            <a:off x="1789200" y="755640"/>
            <a:ext cx="793008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숙련된 인력 수급이 어려움 기존 개발 인력의 빠른 성장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적은 인력으로 더 많은 업무를 수행 데이터 과학, 머신/딥러닝 직무의 생산성 향상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8240" y="4078080"/>
            <a:ext cx="4047120" cy="235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8800" y="3462840"/>
            <a:ext cx="1170360" cy="1199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7360" y="3573000"/>
            <a:ext cx="4462200" cy="304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9"/>
          <p:cNvSpPr/>
          <p:nvPr/>
        </p:nvSpPr>
        <p:spPr>
          <a:xfrm>
            <a:off x="684000" y="6579360"/>
            <a:ext cx="57348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https://docs.aws.amazon.com/sagemaker/latest/dg/how-it-works-mlconcepts.html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1320" y="3316320"/>
            <a:ext cx="2422800" cy="103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9"/>
          <p:cNvSpPr/>
          <p:nvPr/>
        </p:nvSpPr>
        <p:spPr>
          <a:xfrm>
            <a:off x="8808840" y="6580080"/>
            <a:ext cx="196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https://www.kubeflow.org/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/>
          <p:nvPr/>
        </p:nvSpPr>
        <p:spPr>
          <a:xfrm>
            <a:off x="2459520" y="2277000"/>
            <a:ext cx="7271280" cy="136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"/>
          <p:cNvSpPr/>
          <p:nvPr/>
        </p:nvSpPr>
        <p:spPr>
          <a:xfrm>
            <a:off x="936000" y="307440"/>
            <a:ext cx="1093932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1206000" y="2656440"/>
            <a:ext cx="8730000" cy="403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 --&gt; (Non-linear) Regression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선형  = 선 (line), 1차원 방정식 y = ax+b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Non-linear 비선형 (선이 아니다), </a:t>
            </a:r>
            <a:br>
              <a:rPr lang="en-US" sz="1800"/>
            </a:b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= f(x, </a:t>
            </a:r>
            <a:r>
              <a:rPr b="1" i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w</a:t>
            </a:r>
            <a:r>
              <a:rPr b="1" baseline="-25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x+w</a:t>
            </a:r>
            <a:r>
              <a:rPr b="1" baseline="-25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30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+w</a:t>
            </a:r>
            <a:r>
              <a:rPr b="1" baseline="-25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30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… + w</a:t>
            </a:r>
            <a:r>
              <a:rPr b="1" baseline="-25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3000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1224000" y="207360"/>
            <a:ext cx="7218000" cy="244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Regressor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</a:t>
            </a:r>
            <a:r>
              <a:rPr b="1" lang="en-US" sz="3200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Regression</a:t>
            </a: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하는 것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회귀 = 데이터에 맞는 함수를 학습한다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 = linear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/>
          <p:nvPr/>
        </p:nvSpPr>
        <p:spPr>
          <a:xfrm>
            <a:off x="4439520" y="2539440"/>
            <a:ext cx="2904480" cy="77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Reminder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40" y="869400"/>
            <a:ext cx="11238120" cy="601452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3"/>
          <p:cNvSpPr/>
          <p:nvPr/>
        </p:nvSpPr>
        <p:spPr>
          <a:xfrm>
            <a:off x="4425840" y="6565680"/>
            <a:ext cx="3040560" cy="32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sng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Src: http://playground.tensorflow.org</a:t>
            </a:r>
            <a:endParaRPr b="0" sz="13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278280" y="200880"/>
            <a:ext cx="11432880" cy="6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Demo: Binary Classification with Basic Classifier  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"/>
          <p:cNvSpPr/>
          <p:nvPr/>
        </p:nvSpPr>
        <p:spPr>
          <a:xfrm>
            <a:off x="1411560" y="16560"/>
            <a:ext cx="9142920" cy="7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Neural Network 3D Simulation [2:44]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520" y="736560"/>
            <a:ext cx="8136000" cy="614772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4"/>
          <p:cNvSpPr/>
          <p:nvPr/>
        </p:nvSpPr>
        <p:spPr>
          <a:xfrm>
            <a:off x="4183200" y="6508080"/>
            <a:ext cx="33793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sng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https://youtu.be/3JQ3hYko51Y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"/>
          <p:cNvSpPr/>
          <p:nvPr/>
        </p:nvSpPr>
        <p:spPr>
          <a:xfrm>
            <a:off x="1833840" y="1230840"/>
            <a:ext cx="6917760" cy="240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(base) $ conda create --name keras python=3.8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(base) $ conda info -e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(base) $ conda activate keras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pip3 install tensorflow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python -c "import tensorflow as tf"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pip install keras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1837800" y="4034520"/>
            <a:ext cx="4895280" cy="17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python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&gt;&gt;&gt; from keras.models import Sequential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&gt;&gt;&gt; model = Sequential()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&gt;&gt;&gt; exit()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1545840" y="870840"/>
            <a:ext cx="446976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Anaconda가 설치된 상태에 Keras 설치하기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442160" y="3614760"/>
            <a:ext cx="244728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Keras 설치 여부를 확인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834200" y="6060240"/>
            <a:ext cx="9046440" cy="82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python -c ‘from keras.models import Sequential; model = Sequential()’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2152080" y="5707080"/>
            <a:ext cx="86328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혹은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278280" y="200880"/>
            <a:ext cx="111452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Keras 설치하기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c6f45af8e3_0_0"/>
          <p:cNvSpPr/>
          <p:nvPr/>
        </p:nvSpPr>
        <p:spPr>
          <a:xfrm>
            <a:off x="278280" y="200880"/>
            <a:ext cx="111453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Workflow 설명. TODO 추가하기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c6f45af8e3_0_0"/>
          <p:cNvSpPr txBox="1"/>
          <p:nvPr/>
        </p:nvSpPr>
        <p:spPr>
          <a:xfrm>
            <a:off x="1536750" y="3228900"/>
            <a:ext cx="768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https://www.researchgate.net/figure/General-workflow-diagram-of-machine-learning-algorithms_fig1_337173375</a:t>
            </a:r>
            <a:endParaRPr sz="1200"/>
          </a:p>
        </p:txBody>
      </p:sp>
      <p:pic>
        <p:nvPicPr>
          <p:cNvPr id="378" name="Google Shape;378;gc6f45af8e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950" y="839276"/>
            <a:ext cx="5743950" cy="23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c6f45af8e3_0_0"/>
          <p:cNvSpPr txBox="1"/>
          <p:nvPr/>
        </p:nvSpPr>
        <p:spPr>
          <a:xfrm>
            <a:off x="546225" y="6399775"/>
            <a:ext cx="116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https://www.researchgate.net/publication/337173375/figure/fig1/AS:824221852770304@1573521211727/General-workflow-diagram-of-machine-learning-algorithms.png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2017-11-29T00:28:57Z</dcterms:created>
  <dc:creator>Tae-Hyung 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24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28</vt:i4>
  </property>
</Properties>
</file>
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goNI2ihgWsVXvnyH3JJg1k7jiK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-regular.fntdata"/><Relationship Id="rId21" Type="http://schemas.openxmlformats.org/officeDocument/2006/relationships/slide" Target="slides/slide14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/>
          <p:nvPr>
            <p:ph idx="2" type="sldImg"/>
          </p:nvPr>
        </p:nvSpPr>
        <p:spPr>
          <a:xfrm>
            <a:off x="381000" y="685800"/>
            <a:ext cx="6094413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16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8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68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1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 sz="1665"/>
            </a:b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8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9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69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Formal definition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Tom M. Mitchell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computer program is said to learn from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respect to some class of tasks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performance measure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if its performance at tasks in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as measured by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improves with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learning?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9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7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1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71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1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2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72:notes"/>
          <p:cNvSpPr txBox="1"/>
          <p:nvPr>
            <p:ph idx="1" type="body"/>
          </p:nvPr>
        </p:nvSpPr>
        <p:spPr>
          <a:xfrm>
            <a:off x="685800" y="4343400"/>
            <a:ext cx="54858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https://medium.com/technology-nineleaps/popular-machine-learning-algorithms-a574e3835ebb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2:notes"/>
          <p:cNvSpPr/>
          <p:nvPr/>
        </p:nvSpPr>
        <p:spPr>
          <a:xfrm>
            <a:off x="3884760" y="8685360"/>
            <a:ext cx="2971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3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73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3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4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74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4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5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75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5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6:notes"/>
          <p:cNvSpPr/>
          <p:nvPr>
            <p:ph idx="2" type="sldImg"/>
          </p:nvPr>
        </p:nvSpPr>
        <p:spPr>
          <a:xfrm>
            <a:off x="381000" y="685800"/>
            <a:ext cx="609441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76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6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7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1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 sz="1665"/>
            </a:b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7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7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1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 sz="1665"/>
            </a:b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185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5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8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5:notes"/>
          <p:cNvSpPr/>
          <p:nvPr>
            <p:ph idx="2" type="sldImg"/>
          </p:nvPr>
        </p:nvSpPr>
        <p:spPr>
          <a:xfrm>
            <a:off x="217488" y="812800"/>
            <a:ext cx="7124700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:notes"/>
          <p:cNvSpPr/>
          <p:nvPr>
            <p:ph idx="2" type="sldImg"/>
          </p:nvPr>
        </p:nvSpPr>
        <p:spPr>
          <a:xfrm>
            <a:off x="380880" y="685800"/>
            <a:ext cx="6094440" cy="3427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10:notes"/>
          <p:cNvSpPr txBox="1"/>
          <p:nvPr>
            <p:ph idx="1"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0:notes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1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6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6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6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6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6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66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7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67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7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7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7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67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://playground.tensorflow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elfabien.github.io/machinelearning/ml_base/#supervised-vs-unsupervised" TargetMode="External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achinelearningmastery.com/a-tour-of-machine-learning-algorithms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3.jpg"/><Relationship Id="rId6" Type="http://schemas.openxmlformats.org/officeDocument/2006/relationships/hyperlink" Target="https://www.sciencedirect.com/science/article/abs/pii/S095741741400655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hyperlink" Target="https://maelfabien.github.io/machinelearning/ml_base/#supervised-vs-unsupervised" TargetMode="External"/><Relationship Id="rId5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papers.nips.cc/paper/5656-hidden-technical-debt-in-machine-learning-systems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"/>
          <p:cNvSpPr/>
          <p:nvPr/>
        </p:nvSpPr>
        <p:spPr>
          <a:xfrm>
            <a:off x="1487520" y="620640"/>
            <a:ext cx="9215640" cy="77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머신러닝 개발과정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큰그림의 이해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64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8"/>
          <p:cNvSpPr/>
          <p:nvPr/>
        </p:nvSpPr>
        <p:spPr>
          <a:xfrm>
            <a:off x="3143520" y="1343880"/>
            <a:ext cx="8352360" cy="71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8"/>
          <p:cNvSpPr/>
          <p:nvPr/>
        </p:nvSpPr>
        <p:spPr>
          <a:xfrm>
            <a:off x="2351520" y="1999800"/>
            <a:ext cx="8280360" cy="380484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8"/>
          <p:cNvSpPr/>
          <p:nvPr/>
        </p:nvSpPr>
        <p:spPr>
          <a:xfrm>
            <a:off x="3791880" y="1440000"/>
            <a:ext cx="5328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(AI), 인공지능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68"/>
          <p:cNvGrpSpPr/>
          <p:nvPr/>
        </p:nvGrpSpPr>
        <p:grpSpPr>
          <a:xfrm>
            <a:off x="3791880" y="2246040"/>
            <a:ext cx="5626800" cy="3198600"/>
            <a:chOff x="3791880" y="2246040"/>
            <a:chExt cx="5626800" cy="3198600"/>
          </a:xfrm>
        </p:grpSpPr>
        <p:sp>
          <p:nvSpPr>
            <p:cNvPr id="228" name="Google Shape;228;p68"/>
            <p:cNvSpPr/>
            <p:nvPr/>
          </p:nvSpPr>
          <p:spPr>
            <a:xfrm>
              <a:off x="3874680" y="2709000"/>
              <a:ext cx="5328000" cy="2735640"/>
            </a:xfrm>
            <a:prstGeom prst="ellipse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8"/>
            <p:cNvSpPr/>
            <p:nvPr/>
          </p:nvSpPr>
          <p:spPr>
            <a:xfrm>
              <a:off x="3791880" y="2246040"/>
              <a:ext cx="5626800" cy="39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Machine Learning (ML), 머신 러닝/기계 학습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68"/>
          <p:cNvGrpSpPr/>
          <p:nvPr/>
        </p:nvGrpSpPr>
        <p:grpSpPr>
          <a:xfrm>
            <a:off x="4511880" y="3291480"/>
            <a:ext cx="4453920" cy="1537920"/>
            <a:chOff x="4511880" y="3291480"/>
            <a:chExt cx="4453920" cy="1537920"/>
          </a:xfrm>
        </p:grpSpPr>
        <p:sp>
          <p:nvSpPr>
            <p:cNvPr id="231" name="Google Shape;231;p68"/>
            <p:cNvSpPr/>
            <p:nvPr/>
          </p:nvSpPr>
          <p:spPr>
            <a:xfrm>
              <a:off x="6095880" y="3822120"/>
              <a:ext cx="1007280" cy="100728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8"/>
            <p:cNvSpPr/>
            <p:nvPr/>
          </p:nvSpPr>
          <p:spPr>
            <a:xfrm>
              <a:off x="4511880" y="3291480"/>
              <a:ext cx="445392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 (DL), 딥러닝/심층 학습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68"/>
          <p:cNvSpPr/>
          <p:nvPr/>
        </p:nvSpPr>
        <p:spPr>
          <a:xfrm>
            <a:off x="2207520" y="6005880"/>
            <a:ext cx="907236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딥러닝은 </a:t>
            </a: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 알고리즘 중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인공신경망 (Artificial Neural Networks)을 쓰는 방식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머신러닝이라고 하면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딥러닝을 포함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8"/>
          <p:cNvSpPr/>
          <p:nvPr/>
        </p:nvSpPr>
        <p:spPr>
          <a:xfrm>
            <a:off x="278280" y="200880"/>
            <a:ext cx="819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</a:t>
            </a: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기계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심층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소개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9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Machine Learning (ML)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9"/>
          <p:cNvSpPr/>
          <p:nvPr/>
        </p:nvSpPr>
        <p:spPr>
          <a:xfrm>
            <a:off x="278280" y="836640"/>
            <a:ext cx="9417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많은 데이터에서 입출력 관계를 학습하는 컴퓨터 프로그래밍 방식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69"/>
          <p:cNvGrpSpPr/>
          <p:nvPr/>
        </p:nvGrpSpPr>
        <p:grpSpPr>
          <a:xfrm>
            <a:off x="191160" y="1677015"/>
            <a:ext cx="11690640" cy="5170320"/>
            <a:chOff x="191160" y="1268640"/>
            <a:chExt cx="11690640" cy="5170320"/>
          </a:xfrm>
        </p:grpSpPr>
        <p:pic>
          <p:nvPicPr>
            <p:cNvPr id="243" name="Google Shape;24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520" y="1887840"/>
              <a:ext cx="10816920" cy="4266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69"/>
            <p:cNvSpPr/>
            <p:nvPr/>
          </p:nvSpPr>
          <p:spPr>
            <a:xfrm>
              <a:off x="1347840" y="3209400"/>
              <a:ext cx="41400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9"/>
            <p:cNvSpPr/>
            <p:nvPr/>
          </p:nvSpPr>
          <p:spPr>
            <a:xfrm>
              <a:off x="6698880" y="3288600"/>
              <a:ext cx="47088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^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9"/>
            <p:cNvSpPr/>
            <p:nvPr/>
          </p:nvSpPr>
          <p:spPr>
            <a:xfrm>
              <a:off x="568080" y="12686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9"/>
            <p:cNvSpPr/>
            <p:nvPr/>
          </p:nvSpPr>
          <p:spPr>
            <a:xfrm>
              <a:off x="11140200" y="27428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목표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9"/>
            <p:cNvSpPr/>
            <p:nvPr/>
          </p:nvSpPr>
          <p:spPr>
            <a:xfrm flipH="1" rot="10800000">
              <a:off x="1771200" y="3498840"/>
              <a:ext cx="1303920" cy="3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249" name="Google Shape;249;p69"/>
            <p:cNvSpPr/>
            <p:nvPr/>
          </p:nvSpPr>
          <p:spPr>
            <a:xfrm flipH="1" rot="10800000">
              <a:off x="6054120" y="3549960"/>
              <a:ext cx="644040" cy="136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250" name="Google Shape;250;p69"/>
            <p:cNvSpPr/>
            <p:nvPr/>
          </p:nvSpPr>
          <p:spPr>
            <a:xfrm>
              <a:off x="6495840" y="26924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예측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9"/>
            <p:cNvSpPr/>
            <p:nvPr/>
          </p:nvSpPr>
          <p:spPr>
            <a:xfrm>
              <a:off x="8726040" y="131112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출력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9"/>
            <p:cNvSpPr/>
            <p:nvPr/>
          </p:nvSpPr>
          <p:spPr>
            <a:xfrm>
              <a:off x="11305800" y="3289320"/>
              <a:ext cx="39708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" name="Google Shape;253;p69"/>
            <p:cNvCxnSpPr/>
            <p:nvPr/>
          </p:nvCxnSpPr>
          <p:spPr>
            <a:xfrm>
              <a:off x="7170120" y="3578400"/>
              <a:ext cx="4126680" cy="3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69"/>
            <p:cNvCxnSpPr/>
            <p:nvPr/>
          </p:nvCxnSpPr>
          <p:spPr>
            <a:xfrm flipH="1">
              <a:off x="6758280" y="3592800"/>
              <a:ext cx="2338920" cy="193464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255" name="Google Shape;255;p69"/>
            <p:cNvSpPr/>
            <p:nvPr/>
          </p:nvSpPr>
          <p:spPr>
            <a:xfrm rot="10800000">
              <a:off x="2610000" y="1374480"/>
              <a:ext cx="4143240" cy="41518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med" w="med" type="triangle"/>
            </a:ln>
          </p:spPr>
        </p:sp>
        <p:sp>
          <p:nvSpPr>
            <p:cNvPr id="256" name="Google Shape;256;p69"/>
            <p:cNvSpPr/>
            <p:nvPr/>
          </p:nvSpPr>
          <p:spPr>
            <a:xfrm>
              <a:off x="3075840" y="1834560"/>
              <a:ext cx="2977560" cy="333216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9"/>
            <p:cNvSpPr/>
            <p:nvPr/>
          </p:nvSpPr>
          <p:spPr>
            <a:xfrm>
              <a:off x="4233960" y="1268640"/>
              <a:ext cx="66096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f(X)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9"/>
            <p:cNvSpPr/>
            <p:nvPr/>
          </p:nvSpPr>
          <p:spPr>
            <a:xfrm>
              <a:off x="191160" y="6112080"/>
              <a:ext cx="3041280" cy="32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sng" cap="none" strike="noStrike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Src: http://playground.tensorflow.org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70"/>
          <p:cNvGrpSpPr/>
          <p:nvPr/>
        </p:nvGrpSpPr>
        <p:grpSpPr>
          <a:xfrm>
            <a:off x="551520" y="1934280"/>
            <a:ext cx="10656361" cy="4582080"/>
            <a:chOff x="551520" y="1934280"/>
            <a:chExt cx="10656361" cy="4582080"/>
          </a:xfrm>
        </p:grpSpPr>
        <p:pic>
          <p:nvPicPr>
            <p:cNvPr id="264" name="Google Shape;26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1520" y="1934280"/>
              <a:ext cx="9936361" cy="37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70"/>
            <p:cNvSpPr/>
            <p:nvPr/>
          </p:nvSpPr>
          <p:spPr>
            <a:xfrm>
              <a:off x="551520" y="6060600"/>
              <a:ext cx="1044036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머신 러닝 모델의 학습을 위해서 정제된 많은 데이터가 반드시 필요합니다.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70"/>
          <p:cNvSpPr/>
          <p:nvPr/>
        </p:nvSpPr>
        <p:spPr>
          <a:xfrm>
            <a:off x="278280" y="836640"/>
            <a:ext cx="10209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많은 데이터</a:t>
            </a:r>
            <a:r>
              <a:rPr b="1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에서 입출력 관계를 학습하는 컴퓨터 프로그래밍 방식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0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Data for Machine Learning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1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(Machine) Learning Types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1"/>
          <p:cNvSpPr/>
          <p:nvPr/>
        </p:nvSpPr>
        <p:spPr>
          <a:xfrm>
            <a:off x="2468975" y="2837061"/>
            <a:ext cx="2338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Develop predictive model(s)</a:t>
            </a:r>
            <a:b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from input and target data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(Task-driven)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1"/>
          <p:cNvSpPr/>
          <p:nvPr/>
        </p:nvSpPr>
        <p:spPr>
          <a:xfrm>
            <a:off x="5099550" y="2862411"/>
            <a:ext cx="1992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Group and interpret data </a:t>
            </a:r>
            <a:b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only from input data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(Data-driven)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1"/>
          <p:cNvSpPr/>
          <p:nvPr/>
        </p:nvSpPr>
        <p:spPr>
          <a:xfrm>
            <a:off x="7549150" y="2862411"/>
            <a:ext cx="3002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Learn from the interactions </a:t>
            </a:r>
            <a:b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with the environment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(Learn from mistakes and successes)</a:t>
            </a:r>
            <a:endParaRPr b="1" i="0" sz="12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725" y="708900"/>
            <a:ext cx="9711274" cy="2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2"/>
          <p:cNvSpPr/>
          <p:nvPr/>
        </p:nvSpPr>
        <p:spPr>
          <a:xfrm>
            <a:off x="278280" y="200880"/>
            <a:ext cx="8913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Tasks in Machine Learning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2"/>
          <p:cNvSpPr/>
          <p:nvPr/>
        </p:nvSpPr>
        <p:spPr>
          <a:xfrm>
            <a:off x="2275896" y="3158668"/>
            <a:ext cx="2553557" cy="339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상업적으로 성공적인 사례가 많음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34780"/>
            <a:ext cx="114204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3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Supervised Learning Tasks/Problems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3"/>
          <p:cNvSpPr/>
          <p:nvPr/>
        </p:nvSpPr>
        <p:spPr>
          <a:xfrm>
            <a:off x="451656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basis of Machine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Maël Fabien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3"/>
          <p:cNvSpPr/>
          <p:nvPr/>
        </p:nvSpPr>
        <p:spPr>
          <a:xfrm>
            <a:off x="6599880" y="5229360"/>
            <a:ext cx="417564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Dataset을 구분하는 기준인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Decision Boundary에 맞게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Curve Fitting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3"/>
          <p:cNvSpPr/>
          <p:nvPr/>
        </p:nvSpPr>
        <p:spPr>
          <a:xfrm>
            <a:off x="1559520" y="5220360"/>
            <a:ext cx="403164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Dataset를 잘 나타내도록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Function Approximation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(Curve Fitting)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3"/>
          <p:cNvSpPr/>
          <p:nvPr/>
        </p:nvSpPr>
        <p:spPr>
          <a:xfrm>
            <a:off x="7176240" y="1001160"/>
            <a:ext cx="30808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Classification, 분류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3"/>
          <p:cNvSpPr/>
          <p:nvPr/>
        </p:nvSpPr>
        <p:spPr>
          <a:xfrm>
            <a:off x="1919520" y="870840"/>
            <a:ext cx="30808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Regression, 회귀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(Curve fitting)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73"/>
          <p:cNvPicPr preferRelativeResize="0"/>
          <p:nvPr/>
        </p:nvPicPr>
        <p:blipFill rotWithShape="1">
          <a:blip r:embed="rId4">
            <a:alphaModFix/>
          </a:blip>
          <a:srcRect b="21170" l="49993" r="11190" t="4638"/>
          <a:stretch/>
        </p:blipFill>
        <p:spPr>
          <a:xfrm>
            <a:off x="1487520" y="1700640"/>
            <a:ext cx="4247640" cy="345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73"/>
          <p:cNvPicPr preferRelativeResize="0"/>
          <p:nvPr/>
        </p:nvPicPr>
        <p:blipFill rotWithShape="1">
          <a:blip r:embed="rId4">
            <a:alphaModFix/>
          </a:blip>
          <a:srcRect b="25800" l="53941" r="17113" t="12365"/>
          <a:stretch/>
        </p:blipFill>
        <p:spPr>
          <a:xfrm rot="10800000">
            <a:off x="8326440" y="7762680"/>
            <a:ext cx="3167640" cy="287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73"/>
          <p:cNvPicPr preferRelativeResize="0"/>
          <p:nvPr/>
        </p:nvPicPr>
        <p:blipFill rotWithShape="1">
          <a:blip r:embed="rId4">
            <a:alphaModFix/>
          </a:blip>
          <a:srcRect b="21170" l="7237" r="53951" t="4638"/>
          <a:stretch/>
        </p:blipFill>
        <p:spPr>
          <a:xfrm>
            <a:off x="6480360" y="1700640"/>
            <a:ext cx="4247640" cy="345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4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Examples of Regression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4"/>
          <p:cNvSpPr/>
          <p:nvPr/>
        </p:nvSpPr>
        <p:spPr>
          <a:xfrm>
            <a:off x="767520" y="6379920"/>
            <a:ext cx="4247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Tour of Machine Learning Algorithms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4"/>
          <p:cNvSpPr/>
          <p:nvPr/>
        </p:nvSpPr>
        <p:spPr>
          <a:xfrm>
            <a:off x="263520" y="933840"/>
            <a:ext cx="11520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여러 가지 형태의 Dataset에 대해 Non-linear Function Approximation이 가능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20" y="1514520"/>
            <a:ext cx="4557240" cy="383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5880" y="1845000"/>
            <a:ext cx="6192000" cy="3260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4"/>
          <p:cNvSpPr/>
          <p:nvPr/>
        </p:nvSpPr>
        <p:spPr>
          <a:xfrm>
            <a:off x="5735880" y="6333840"/>
            <a:ext cx="5976000" cy="81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Predicting stock market index using fusion of machine learning techniques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Patel et.al. 2015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5"/>
          <p:cNvSpPr/>
          <p:nvPr/>
        </p:nvSpPr>
        <p:spPr>
          <a:xfrm>
            <a:off x="278280" y="200880"/>
            <a:ext cx="11649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Classification of Dataset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75"/>
          <p:cNvPicPr preferRelativeResize="0"/>
          <p:nvPr/>
        </p:nvPicPr>
        <p:blipFill rotWithShape="1">
          <a:blip r:embed="rId3">
            <a:alphaModFix/>
          </a:blip>
          <a:srcRect b="27768" l="9865" r="50663" t="4638"/>
          <a:stretch/>
        </p:blipFill>
        <p:spPr>
          <a:xfrm>
            <a:off x="2063520" y="1792440"/>
            <a:ext cx="4319640" cy="31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75"/>
          <p:cNvSpPr/>
          <p:nvPr/>
        </p:nvSpPr>
        <p:spPr>
          <a:xfrm>
            <a:off x="2207520" y="948240"/>
            <a:ext cx="30808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Classification, 분류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5"/>
          <p:cNvSpPr/>
          <p:nvPr/>
        </p:nvSpPr>
        <p:spPr>
          <a:xfrm>
            <a:off x="1775520" y="5013000"/>
            <a:ext cx="12232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Class 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5"/>
          <p:cNvSpPr/>
          <p:nvPr/>
        </p:nvSpPr>
        <p:spPr>
          <a:xfrm>
            <a:off x="5272560" y="1432440"/>
            <a:ext cx="1254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A0000"/>
                </a:solidFill>
                <a:latin typeface="Arial"/>
                <a:ea typeface="Arial"/>
                <a:cs typeface="Arial"/>
                <a:sym typeface="Arial"/>
              </a:rPr>
              <a:t>Class 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5"/>
          <p:cNvSpPr/>
          <p:nvPr/>
        </p:nvSpPr>
        <p:spPr>
          <a:xfrm rot="-2841000">
            <a:off x="983520" y="1456920"/>
            <a:ext cx="181440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Boundary,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결정 경계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5"/>
          <p:cNvSpPr/>
          <p:nvPr/>
        </p:nvSpPr>
        <p:spPr>
          <a:xfrm>
            <a:off x="40752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basis of Machine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Maël Fabien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75"/>
          <p:cNvGrpSpPr/>
          <p:nvPr/>
        </p:nvGrpSpPr>
        <p:grpSpPr>
          <a:xfrm>
            <a:off x="6960240" y="933840"/>
            <a:ext cx="5184000" cy="5230503"/>
            <a:chOff x="6960240" y="933840"/>
            <a:chExt cx="5184000" cy="5230503"/>
          </a:xfrm>
        </p:grpSpPr>
        <p:pic>
          <p:nvPicPr>
            <p:cNvPr id="324" name="Google Shape;324;p75"/>
            <p:cNvPicPr preferRelativeResize="0"/>
            <p:nvPr/>
          </p:nvPicPr>
          <p:blipFill rotWithShape="1">
            <a:blip r:embed="rId5">
              <a:alphaModFix/>
            </a:blip>
            <a:srcRect b="12896" l="7364" r="53174" t="16188"/>
            <a:stretch/>
          </p:blipFill>
          <p:spPr>
            <a:xfrm rot="-2956200">
              <a:off x="7763760" y="400788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75"/>
            <p:cNvPicPr preferRelativeResize="0"/>
            <p:nvPr/>
          </p:nvPicPr>
          <p:blipFill rotWithShape="1">
            <a:blip r:embed="rId5">
              <a:alphaModFix/>
            </a:blip>
            <a:srcRect b="12896" l="49016" r="8877" t="16188"/>
            <a:stretch/>
          </p:blipFill>
          <p:spPr>
            <a:xfrm rot="-3085200">
              <a:off x="9381960" y="207180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75"/>
            <p:cNvSpPr/>
            <p:nvPr/>
          </p:nvSpPr>
          <p:spPr>
            <a:xfrm>
              <a:off x="6960240" y="933840"/>
              <a:ext cx="51840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Binary Classification Example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75"/>
          <p:cNvGrpSpPr/>
          <p:nvPr/>
        </p:nvGrpSpPr>
        <p:grpSpPr>
          <a:xfrm>
            <a:off x="7133199" y="1557171"/>
            <a:ext cx="3859041" cy="3239829"/>
            <a:chOff x="7133199" y="1557171"/>
            <a:chExt cx="3859041" cy="3239829"/>
          </a:xfrm>
        </p:grpSpPr>
        <p:cxnSp>
          <p:nvCxnSpPr>
            <p:cNvPr id="328" name="Google Shape;328;p75"/>
            <p:cNvCxnSpPr/>
            <p:nvPr/>
          </p:nvCxnSpPr>
          <p:spPr>
            <a:xfrm>
              <a:off x="8472240" y="2852640"/>
              <a:ext cx="2520000" cy="1944360"/>
            </a:xfrm>
            <a:prstGeom prst="straightConnector1">
              <a:avLst/>
            </a:prstGeom>
            <a:noFill/>
            <a:ln cap="flat" cmpd="sng" w="1907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29" name="Google Shape;329;p75"/>
            <p:cNvSpPr/>
            <p:nvPr/>
          </p:nvSpPr>
          <p:spPr>
            <a:xfrm rot="-2841000">
              <a:off x="7142760" y="209196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75"/>
          <p:cNvGrpSpPr/>
          <p:nvPr/>
        </p:nvGrpSpPr>
        <p:grpSpPr>
          <a:xfrm>
            <a:off x="7063560" y="1330920"/>
            <a:ext cx="5127480" cy="4923360"/>
            <a:chOff x="7063560" y="1330920"/>
            <a:chExt cx="5127480" cy="4923360"/>
          </a:xfrm>
        </p:grpSpPr>
        <p:sp>
          <p:nvSpPr>
            <p:cNvPr id="331" name="Google Shape;331;p75"/>
            <p:cNvSpPr/>
            <p:nvPr/>
          </p:nvSpPr>
          <p:spPr>
            <a:xfrm>
              <a:off x="7063560" y="5798520"/>
              <a:ext cx="12232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5"/>
            <p:cNvSpPr/>
            <p:nvPr/>
          </p:nvSpPr>
          <p:spPr>
            <a:xfrm>
              <a:off x="10936440" y="1330920"/>
              <a:ext cx="1254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75"/>
          <p:cNvGrpSpPr/>
          <p:nvPr/>
        </p:nvGrpSpPr>
        <p:grpSpPr>
          <a:xfrm>
            <a:off x="7125840" y="1644480"/>
            <a:ext cx="5124960" cy="5021640"/>
            <a:chOff x="7125840" y="1644480"/>
            <a:chExt cx="5124960" cy="5021640"/>
          </a:xfrm>
        </p:grpSpPr>
        <p:sp>
          <p:nvSpPr>
            <p:cNvPr id="334" name="Google Shape;334;p75"/>
            <p:cNvSpPr/>
            <p:nvPr/>
          </p:nvSpPr>
          <p:spPr>
            <a:xfrm>
              <a:off x="7125840" y="6210360"/>
              <a:ext cx="12232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= cat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5"/>
            <p:cNvSpPr/>
            <p:nvPr/>
          </p:nvSpPr>
          <p:spPr>
            <a:xfrm>
              <a:off x="11094120" y="1644480"/>
              <a:ext cx="11566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= dog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75"/>
          <p:cNvSpPr/>
          <p:nvPr/>
        </p:nvSpPr>
        <p:spPr>
          <a:xfrm>
            <a:off x="8901000" y="6453360"/>
            <a:ext cx="30312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Kaggle, Cat &amp; Dog dataset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6"/>
          <p:cNvSpPr/>
          <p:nvPr/>
        </p:nvSpPr>
        <p:spPr>
          <a:xfrm>
            <a:off x="278280" y="200880"/>
            <a:ext cx="11433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What if?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6"/>
          <p:cNvSpPr/>
          <p:nvPr/>
        </p:nvSpPr>
        <p:spPr>
          <a:xfrm>
            <a:off x="8901000" y="6453360"/>
            <a:ext cx="30312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Kaggle, Cat &amp; Dog dataset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76"/>
          <p:cNvGrpSpPr/>
          <p:nvPr/>
        </p:nvGrpSpPr>
        <p:grpSpPr>
          <a:xfrm>
            <a:off x="6713280" y="3155040"/>
            <a:ext cx="4784040" cy="1599120"/>
            <a:chOff x="6713280" y="3155040"/>
            <a:chExt cx="4784040" cy="1599120"/>
          </a:xfrm>
        </p:grpSpPr>
        <p:pic>
          <p:nvPicPr>
            <p:cNvPr id="345" name="Google Shape;345;p76"/>
            <p:cNvPicPr preferRelativeResize="0"/>
            <p:nvPr/>
          </p:nvPicPr>
          <p:blipFill rotWithShape="1">
            <a:blip r:embed="rId3">
              <a:alphaModFix/>
            </a:blip>
            <a:srcRect b="12896" l="7364" r="53174" t="16188"/>
            <a:stretch/>
          </p:blipFill>
          <p:spPr>
            <a:xfrm>
              <a:off x="6713280" y="315504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76"/>
            <p:cNvPicPr preferRelativeResize="0"/>
            <p:nvPr/>
          </p:nvPicPr>
          <p:blipFill rotWithShape="1">
            <a:blip r:embed="rId3">
              <a:alphaModFix/>
            </a:blip>
            <a:srcRect b="12896" l="49016" r="8877" t="16188"/>
            <a:stretch/>
          </p:blipFill>
          <p:spPr>
            <a:xfrm>
              <a:off x="9336240" y="315504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7" name="Google Shape;347;p76"/>
          <p:cNvGrpSpPr/>
          <p:nvPr/>
        </p:nvGrpSpPr>
        <p:grpSpPr>
          <a:xfrm>
            <a:off x="6812640" y="4928760"/>
            <a:ext cx="4683240" cy="824760"/>
            <a:chOff x="6812640" y="4928760"/>
            <a:chExt cx="4683240" cy="824760"/>
          </a:xfrm>
        </p:grpSpPr>
        <p:sp>
          <p:nvSpPr>
            <p:cNvPr id="348" name="Google Shape;348;p76"/>
            <p:cNvSpPr/>
            <p:nvPr/>
          </p:nvSpPr>
          <p:spPr>
            <a:xfrm>
              <a:off x="6812640" y="4928760"/>
              <a:ext cx="208764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 (cat)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76"/>
            <p:cNvSpPr/>
            <p:nvPr/>
          </p:nvSpPr>
          <p:spPr>
            <a:xfrm>
              <a:off x="9478800" y="4932720"/>
              <a:ext cx="2017080" cy="8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 (dog)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76"/>
          <p:cNvGrpSpPr/>
          <p:nvPr/>
        </p:nvGrpSpPr>
        <p:grpSpPr>
          <a:xfrm>
            <a:off x="6341199" y="1557171"/>
            <a:ext cx="3859041" cy="3239829"/>
            <a:chOff x="6341199" y="1557171"/>
            <a:chExt cx="3859041" cy="3239829"/>
          </a:xfrm>
        </p:grpSpPr>
        <p:cxnSp>
          <p:nvCxnSpPr>
            <p:cNvPr id="351" name="Google Shape;351;p76"/>
            <p:cNvCxnSpPr/>
            <p:nvPr/>
          </p:nvCxnSpPr>
          <p:spPr>
            <a:xfrm>
              <a:off x="7679880" y="2852640"/>
              <a:ext cx="2520360" cy="1944360"/>
            </a:xfrm>
            <a:prstGeom prst="straightConnector1">
              <a:avLst/>
            </a:prstGeom>
            <a:noFill/>
            <a:ln cap="flat" cmpd="sng" w="1907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76"/>
            <p:cNvSpPr/>
            <p:nvPr/>
          </p:nvSpPr>
          <p:spPr>
            <a:xfrm rot="-2841000">
              <a:off x="6350760" y="209196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76"/>
          <p:cNvSpPr/>
          <p:nvPr/>
        </p:nvSpPr>
        <p:spPr>
          <a:xfrm>
            <a:off x="263520" y="933840"/>
            <a:ext cx="11520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Q: Dataset에 맞지 않는 (결정경계를 가지는 머신 러닝) 모델을 쓰면 어떻게 될까?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6"/>
          <p:cNvSpPr/>
          <p:nvPr/>
        </p:nvSpPr>
        <p:spPr>
          <a:xfrm>
            <a:off x="8188920" y="3023280"/>
            <a:ext cx="930600" cy="693000"/>
          </a:xfrm>
          <a:custGeom>
            <a:rect b="b" l="l" r="r" t="t"/>
            <a:pathLst>
              <a:path extrusionOk="0" h="772160" w="1010991">
                <a:moveTo>
                  <a:pt x="330200" y="523240"/>
                </a:moveTo>
                <a:lnTo>
                  <a:pt x="675640" y="772160"/>
                </a:lnTo>
                <a:lnTo>
                  <a:pt x="1000760" y="558800"/>
                </a:lnTo>
                <a:cubicBezTo>
                  <a:pt x="1002453" y="541867"/>
                  <a:pt x="1003252" y="524820"/>
                  <a:pt x="1005840" y="508000"/>
                </a:cubicBezTo>
                <a:cubicBezTo>
                  <a:pt x="1011991" y="468019"/>
                  <a:pt x="1010920" y="511731"/>
                  <a:pt x="1010920" y="482600"/>
                </a:cubicBezTo>
                <a:lnTo>
                  <a:pt x="929640" y="223520"/>
                </a:lnTo>
                <a:cubicBezTo>
                  <a:pt x="914400" y="211667"/>
                  <a:pt x="899984" y="198670"/>
                  <a:pt x="883920" y="187960"/>
                </a:cubicBezTo>
                <a:cubicBezTo>
                  <a:pt x="879465" y="184990"/>
                  <a:pt x="868680" y="182880"/>
                  <a:pt x="868680" y="182880"/>
                </a:cubicBezTo>
                <a:lnTo>
                  <a:pt x="518160" y="25400"/>
                </a:lnTo>
                <a:lnTo>
                  <a:pt x="467360" y="0"/>
                </a:lnTo>
                <a:lnTo>
                  <a:pt x="71120" y="0"/>
                </a:lnTo>
                <a:lnTo>
                  <a:pt x="0" y="177800"/>
                </a:lnTo>
                <a:lnTo>
                  <a:pt x="60960" y="325120"/>
                </a:lnTo>
                <a:lnTo>
                  <a:pt x="330200" y="523240"/>
                </a:lnTo>
                <a:close/>
              </a:path>
            </a:pathLst>
          </a:custGeom>
          <a:noFill/>
          <a:ln cap="flat" cmpd="sng" w="25400">
            <a:solidFill>
              <a:srgbClr val="9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6"/>
          <p:cNvSpPr/>
          <p:nvPr/>
        </p:nvSpPr>
        <p:spPr>
          <a:xfrm>
            <a:off x="9250560" y="4175640"/>
            <a:ext cx="588600" cy="476640"/>
          </a:xfrm>
          <a:custGeom>
            <a:rect b="b" l="l" r="r" t="t"/>
            <a:pathLst>
              <a:path extrusionOk="0" h="619760" w="589280">
                <a:moveTo>
                  <a:pt x="96520" y="0"/>
                </a:moveTo>
                <a:lnTo>
                  <a:pt x="406400" y="208280"/>
                </a:lnTo>
                <a:lnTo>
                  <a:pt x="589280" y="401320"/>
                </a:lnTo>
                <a:lnTo>
                  <a:pt x="574040" y="523240"/>
                </a:lnTo>
                <a:lnTo>
                  <a:pt x="345440" y="604520"/>
                </a:lnTo>
                <a:cubicBezTo>
                  <a:pt x="272644" y="614919"/>
                  <a:pt x="298267" y="614680"/>
                  <a:pt x="269240" y="614680"/>
                </a:cubicBezTo>
                <a:lnTo>
                  <a:pt x="96520" y="619760"/>
                </a:lnTo>
                <a:cubicBezTo>
                  <a:pt x="86360" y="607907"/>
                  <a:pt x="74993" y="596990"/>
                  <a:pt x="66040" y="584200"/>
                </a:cubicBezTo>
                <a:cubicBezTo>
                  <a:pt x="62969" y="579813"/>
                  <a:pt x="60960" y="568960"/>
                  <a:pt x="60960" y="568960"/>
                </a:cubicBezTo>
                <a:lnTo>
                  <a:pt x="0" y="401320"/>
                </a:lnTo>
                <a:lnTo>
                  <a:pt x="40640" y="208280"/>
                </a:lnTo>
                <a:lnTo>
                  <a:pt x="96520" y="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6"/>
          <p:cNvSpPr/>
          <p:nvPr/>
        </p:nvSpPr>
        <p:spPr>
          <a:xfrm>
            <a:off x="8053200" y="2376360"/>
            <a:ext cx="2565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Error, 오류 발생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76"/>
          <p:cNvGrpSpPr/>
          <p:nvPr/>
        </p:nvGrpSpPr>
        <p:grpSpPr>
          <a:xfrm>
            <a:off x="366480" y="1330920"/>
            <a:ext cx="5127840" cy="5289120"/>
            <a:chOff x="366480" y="1330920"/>
            <a:chExt cx="5127840" cy="5289120"/>
          </a:xfrm>
        </p:grpSpPr>
        <p:pic>
          <p:nvPicPr>
            <p:cNvPr id="358" name="Google Shape;358;p76"/>
            <p:cNvPicPr preferRelativeResize="0"/>
            <p:nvPr/>
          </p:nvPicPr>
          <p:blipFill rotWithShape="1">
            <a:blip r:embed="rId3">
              <a:alphaModFix/>
            </a:blip>
            <a:srcRect b="12896" l="7364" r="53174" t="16188"/>
            <a:stretch/>
          </p:blipFill>
          <p:spPr>
            <a:xfrm rot="-2956200">
              <a:off x="1067040" y="400788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76"/>
            <p:cNvPicPr preferRelativeResize="0"/>
            <p:nvPr/>
          </p:nvPicPr>
          <p:blipFill rotWithShape="1">
            <a:blip r:embed="rId3">
              <a:alphaModFix/>
            </a:blip>
            <a:srcRect b="12896" l="49016" r="8877" t="16188"/>
            <a:stretch/>
          </p:blipFill>
          <p:spPr>
            <a:xfrm rot="-3085200">
              <a:off x="2685240" y="207180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76"/>
            <p:cNvSpPr/>
            <p:nvPr/>
          </p:nvSpPr>
          <p:spPr>
            <a:xfrm>
              <a:off x="366480" y="5798520"/>
              <a:ext cx="122328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 (cat)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76"/>
            <p:cNvSpPr/>
            <p:nvPr/>
          </p:nvSpPr>
          <p:spPr>
            <a:xfrm>
              <a:off x="4239720" y="1330920"/>
              <a:ext cx="12546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 (dog)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76"/>
            <p:cNvGrpSpPr/>
            <p:nvPr/>
          </p:nvGrpSpPr>
          <p:grpSpPr>
            <a:xfrm>
              <a:off x="1976400" y="1503720"/>
              <a:ext cx="1814400" cy="4229280"/>
              <a:chOff x="1976400" y="1503720"/>
              <a:chExt cx="1814400" cy="4229280"/>
            </a:xfrm>
          </p:grpSpPr>
          <p:cxnSp>
            <p:nvCxnSpPr>
              <p:cNvPr id="363" name="Google Shape;363;p76"/>
              <p:cNvCxnSpPr/>
              <p:nvPr/>
            </p:nvCxnSpPr>
            <p:spPr>
              <a:xfrm>
                <a:off x="2883960" y="2420640"/>
                <a:ext cx="360" cy="3312360"/>
              </a:xfrm>
              <a:prstGeom prst="straightConnector1">
                <a:avLst/>
              </a:prstGeom>
              <a:noFill/>
              <a:ln cap="flat" cmpd="sng" w="19075">
                <a:solidFill>
                  <a:srgbClr val="FF6699"/>
                </a:solidFill>
                <a:prstDash val="dash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364" name="Google Shape;364;p76"/>
              <p:cNvSpPr/>
              <p:nvPr/>
            </p:nvSpPr>
            <p:spPr>
              <a:xfrm>
                <a:off x="1976400" y="1503720"/>
                <a:ext cx="1814400" cy="82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6699"/>
                    </a:solidFill>
                    <a:latin typeface="Arial"/>
                    <a:ea typeface="Arial"/>
                    <a:cs typeface="Arial"/>
                    <a:sym typeface="Arial"/>
                  </a:rPr>
                  <a:t>Decision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6699"/>
                    </a:solidFill>
                    <a:latin typeface="Arial"/>
                    <a:ea typeface="Arial"/>
                    <a:cs typeface="Arial"/>
                    <a:sym typeface="Arial"/>
                  </a:rPr>
                  <a:t>Boundary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5" name="Google Shape;365;p76"/>
          <p:cNvSpPr/>
          <p:nvPr/>
        </p:nvSpPr>
        <p:spPr>
          <a:xfrm>
            <a:off x="2865240" y="4018320"/>
            <a:ext cx="822240" cy="1076400"/>
          </a:xfrm>
          <a:custGeom>
            <a:rect b="b" l="l" r="r" t="t"/>
            <a:pathLst>
              <a:path extrusionOk="0" h="1076960" w="822960">
                <a:moveTo>
                  <a:pt x="0" y="436880"/>
                </a:moveTo>
                <a:lnTo>
                  <a:pt x="45720" y="909320"/>
                </a:lnTo>
                <a:lnTo>
                  <a:pt x="370840" y="1076960"/>
                </a:lnTo>
                <a:lnTo>
                  <a:pt x="822960" y="482600"/>
                </a:lnTo>
                <a:lnTo>
                  <a:pt x="528320" y="167640"/>
                </a:lnTo>
                <a:lnTo>
                  <a:pt x="238760" y="0"/>
                </a:lnTo>
                <a:lnTo>
                  <a:pt x="20320" y="157480"/>
                </a:lnTo>
                <a:lnTo>
                  <a:pt x="30480" y="553720"/>
                </a:lnTo>
              </a:path>
            </a:pathLst>
          </a:custGeom>
          <a:noFill/>
          <a:ln cap="flat" cmpd="sng" w="25400">
            <a:solidFill>
              <a:srgbClr val="9A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76"/>
          <p:cNvSpPr/>
          <p:nvPr/>
        </p:nvSpPr>
        <p:spPr>
          <a:xfrm>
            <a:off x="2346840" y="2910960"/>
            <a:ext cx="532800" cy="527760"/>
          </a:xfrm>
          <a:custGeom>
            <a:rect b="b" l="l" r="r" t="t"/>
            <a:pathLst>
              <a:path extrusionOk="0" h="528320" w="533400">
                <a:moveTo>
                  <a:pt x="533400" y="269240"/>
                </a:moveTo>
                <a:lnTo>
                  <a:pt x="421640" y="528320"/>
                </a:lnTo>
                <a:lnTo>
                  <a:pt x="218440" y="487680"/>
                </a:lnTo>
                <a:lnTo>
                  <a:pt x="0" y="284480"/>
                </a:lnTo>
                <a:lnTo>
                  <a:pt x="55880" y="127000"/>
                </a:lnTo>
                <a:lnTo>
                  <a:pt x="198120" y="25400"/>
                </a:lnTo>
                <a:lnTo>
                  <a:pt x="381000" y="0"/>
                </a:lnTo>
                <a:lnTo>
                  <a:pt x="472440" y="25400"/>
                </a:lnTo>
                <a:lnTo>
                  <a:pt x="502920" y="81280"/>
                </a:lnTo>
                <a:lnTo>
                  <a:pt x="528320" y="187960"/>
                </a:lnTo>
                <a:lnTo>
                  <a:pt x="533400" y="26924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76"/>
          <p:cNvSpPr/>
          <p:nvPr/>
        </p:nvSpPr>
        <p:spPr>
          <a:xfrm rot="-3076200">
            <a:off x="1508760" y="2763000"/>
            <a:ext cx="10332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6"/>
          <p:cNvSpPr/>
          <p:nvPr/>
        </p:nvSpPr>
        <p:spPr>
          <a:xfrm>
            <a:off x="4727880" y="6016680"/>
            <a:ext cx="28908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A: 정확도가 떨어짐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7"/>
          <p:cNvSpPr/>
          <p:nvPr/>
        </p:nvSpPr>
        <p:spPr>
          <a:xfrm>
            <a:off x="278280" y="200880"/>
            <a:ext cx="111459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간략화된 머신 러닝 개발 과정 (1/2)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7"/>
          <p:cNvSpPr/>
          <p:nvPr/>
        </p:nvSpPr>
        <p:spPr>
          <a:xfrm>
            <a:off x="2140888" y="2208301"/>
            <a:ext cx="1012059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7"/>
          <p:cNvSpPr/>
          <p:nvPr/>
        </p:nvSpPr>
        <p:spPr>
          <a:xfrm>
            <a:off x="3349690" y="3391519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(Acquisition)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7"/>
          <p:cNvSpPr/>
          <p:nvPr/>
        </p:nvSpPr>
        <p:spPr>
          <a:xfrm>
            <a:off x="4413964" y="3391519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7"/>
          <p:cNvSpPr/>
          <p:nvPr/>
        </p:nvSpPr>
        <p:spPr>
          <a:xfrm>
            <a:off x="5472927" y="3391519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77"/>
          <p:cNvCxnSpPr>
            <a:stCxn id="377" idx="3"/>
            <a:endCxn id="378" idx="1"/>
          </p:cNvCxnSpPr>
          <p:nvPr/>
        </p:nvCxnSpPr>
        <p:spPr>
          <a:xfrm>
            <a:off x="5313964" y="3635689"/>
            <a:ext cx="15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77"/>
          <p:cNvCxnSpPr>
            <a:stCxn id="376" idx="3"/>
            <a:endCxn id="377" idx="1"/>
          </p:cNvCxnSpPr>
          <p:nvPr/>
        </p:nvCxnSpPr>
        <p:spPr>
          <a:xfrm>
            <a:off x="4249690" y="3635689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77"/>
          <p:cNvSpPr/>
          <p:nvPr/>
        </p:nvSpPr>
        <p:spPr>
          <a:xfrm>
            <a:off x="4448984" y="4661342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7"/>
          <p:cNvSpPr/>
          <p:nvPr/>
        </p:nvSpPr>
        <p:spPr>
          <a:xfrm>
            <a:off x="5491995" y="4661342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77"/>
          <p:cNvCxnSpPr>
            <a:stCxn id="381" idx="3"/>
            <a:endCxn id="382" idx="1"/>
          </p:cNvCxnSpPr>
          <p:nvPr/>
        </p:nvCxnSpPr>
        <p:spPr>
          <a:xfrm>
            <a:off x="5348984" y="4905512"/>
            <a:ext cx="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77"/>
          <p:cNvCxnSpPr>
            <a:stCxn id="378" idx="3"/>
            <a:endCxn id="385" idx="1"/>
          </p:cNvCxnSpPr>
          <p:nvPr/>
        </p:nvCxnSpPr>
        <p:spPr>
          <a:xfrm>
            <a:off x="6372927" y="3635689"/>
            <a:ext cx="2166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77"/>
          <p:cNvSpPr/>
          <p:nvPr/>
        </p:nvSpPr>
        <p:spPr>
          <a:xfrm>
            <a:off x="6524855" y="4661342"/>
            <a:ext cx="1016047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7"/>
          <p:cNvSpPr/>
          <p:nvPr/>
        </p:nvSpPr>
        <p:spPr>
          <a:xfrm>
            <a:off x="7710116" y="4661342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77"/>
          <p:cNvCxnSpPr>
            <a:stCxn id="382" idx="3"/>
            <a:endCxn id="386" idx="1"/>
          </p:cNvCxnSpPr>
          <p:nvPr/>
        </p:nvCxnSpPr>
        <p:spPr>
          <a:xfrm>
            <a:off x="6391995" y="4905512"/>
            <a:ext cx="1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" name="Google Shape;389;p77"/>
          <p:cNvSpPr/>
          <p:nvPr/>
        </p:nvSpPr>
        <p:spPr>
          <a:xfrm>
            <a:off x="8745786" y="4661342"/>
            <a:ext cx="1118148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endParaRPr/>
          </a:p>
        </p:txBody>
      </p:sp>
      <p:cxnSp>
        <p:nvCxnSpPr>
          <p:cNvPr id="390" name="Google Shape;390;p77"/>
          <p:cNvCxnSpPr>
            <a:stCxn id="389" idx="3"/>
            <a:endCxn id="391" idx="1"/>
          </p:cNvCxnSpPr>
          <p:nvPr/>
        </p:nvCxnSpPr>
        <p:spPr>
          <a:xfrm>
            <a:off x="9863934" y="4905512"/>
            <a:ext cx="17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77"/>
          <p:cNvCxnSpPr>
            <a:stCxn id="387" idx="3"/>
            <a:endCxn id="389" idx="1"/>
          </p:cNvCxnSpPr>
          <p:nvPr/>
        </p:nvCxnSpPr>
        <p:spPr>
          <a:xfrm>
            <a:off x="8610116" y="4905512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p77"/>
          <p:cNvSpPr/>
          <p:nvPr/>
        </p:nvSpPr>
        <p:spPr>
          <a:xfrm>
            <a:off x="10039693" y="4661342"/>
            <a:ext cx="1284226" cy="488332"/>
          </a:xfrm>
          <a:prstGeom prst="diamond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7"/>
          <p:cNvSpPr txBox="1"/>
          <p:nvPr/>
        </p:nvSpPr>
        <p:spPr>
          <a:xfrm>
            <a:off x="10225092" y="4718153"/>
            <a:ext cx="939800" cy="34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Enough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77"/>
          <p:cNvCxnSpPr>
            <a:stCxn id="386" idx="3"/>
            <a:endCxn id="387" idx="1"/>
          </p:cNvCxnSpPr>
          <p:nvPr/>
        </p:nvCxnSpPr>
        <p:spPr>
          <a:xfrm>
            <a:off x="7540902" y="4905512"/>
            <a:ext cx="16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5" name="Google Shape;395;p77"/>
          <p:cNvCxnSpPr>
            <a:stCxn id="391" idx="0"/>
            <a:endCxn id="396" idx="3"/>
          </p:cNvCxnSpPr>
          <p:nvPr/>
        </p:nvCxnSpPr>
        <p:spPr>
          <a:xfrm flipH="1" rot="5400000">
            <a:off x="9477456" y="3456992"/>
            <a:ext cx="336900" cy="207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77"/>
          <p:cNvSpPr/>
          <p:nvPr/>
        </p:nvSpPr>
        <p:spPr>
          <a:xfrm>
            <a:off x="5491995" y="4208704"/>
            <a:ext cx="3118121" cy="2316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Enhancement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7"/>
          <p:cNvSpPr txBox="1"/>
          <p:nvPr/>
        </p:nvSpPr>
        <p:spPr>
          <a:xfrm>
            <a:off x="10692000" y="5124272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7"/>
          <p:cNvSpPr txBox="1"/>
          <p:nvPr/>
        </p:nvSpPr>
        <p:spPr>
          <a:xfrm>
            <a:off x="10681806" y="4450324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77"/>
          <p:cNvCxnSpPr>
            <a:stCxn id="382" idx="0"/>
          </p:cNvCxnSpPr>
          <p:nvPr/>
        </p:nvCxnSpPr>
        <p:spPr>
          <a:xfrm rot="10800000">
            <a:off x="5937495" y="4440542"/>
            <a:ext cx="450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00" name="Google Shape;400;p77"/>
          <p:cNvCxnSpPr>
            <a:stCxn id="396" idx="1"/>
            <a:endCxn id="381" idx="0"/>
          </p:cNvCxnSpPr>
          <p:nvPr/>
        </p:nvCxnSpPr>
        <p:spPr>
          <a:xfrm flipH="1">
            <a:off x="4898895" y="4324552"/>
            <a:ext cx="593100" cy="33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77"/>
          <p:cNvSpPr/>
          <p:nvPr/>
        </p:nvSpPr>
        <p:spPr>
          <a:xfrm>
            <a:off x="6589494" y="3391700"/>
            <a:ext cx="1533605" cy="488332"/>
          </a:xfrm>
          <a:prstGeom prst="diamond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7"/>
          <p:cNvSpPr txBox="1"/>
          <p:nvPr/>
        </p:nvSpPr>
        <p:spPr>
          <a:xfrm>
            <a:off x="6759653" y="3451899"/>
            <a:ext cx="1191831" cy="34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Enough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Balanced Data?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7"/>
          <p:cNvSpPr txBox="1"/>
          <p:nvPr/>
        </p:nvSpPr>
        <p:spPr>
          <a:xfrm>
            <a:off x="7325710" y="3894799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7"/>
          <p:cNvSpPr txBox="1"/>
          <p:nvPr/>
        </p:nvSpPr>
        <p:spPr>
          <a:xfrm>
            <a:off x="7355568" y="3147122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7"/>
          <p:cNvSpPr/>
          <p:nvPr/>
        </p:nvSpPr>
        <p:spPr>
          <a:xfrm>
            <a:off x="4413963" y="3017040"/>
            <a:ext cx="1950497" cy="2462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77"/>
          <p:cNvCxnSpPr>
            <a:stCxn id="385" idx="0"/>
            <a:endCxn id="404" idx="3"/>
          </p:cNvCxnSpPr>
          <p:nvPr/>
        </p:nvCxnSpPr>
        <p:spPr>
          <a:xfrm flipH="1" rot="5400000">
            <a:off x="6734546" y="2769950"/>
            <a:ext cx="251700" cy="99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77"/>
          <p:cNvCxnSpPr>
            <a:stCxn id="385" idx="2"/>
            <a:endCxn id="381" idx="1"/>
          </p:cNvCxnSpPr>
          <p:nvPr/>
        </p:nvCxnSpPr>
        <p:spPr>
          <a:xfrm rot="5400000">
            <a:off x="5389946" y="2939082"/>
            <a:ext cx="1025400" cy="2907300"/>
          </a:xfrm>
          <a:prstGeom prst="bentConnector4">
            <a:avLst>
              <a:gd fmla="val 19933" name="adj1"/>
              <a:gd fmla="val 1078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7" name="Google Shape;407;p77"/>
          <p:cNvSpPr txBox="1"/>
          <p:nvPr/>
        </p:nvSpPr>
        <p:spPr>
          <a:xfrm>
            <a:off x="3361691" y="4628509"/>
            <a:ext cx="74513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77"/>
          <p:cNvCxnSpPr>
            <a:stCxn id="386" idx="0"/>
          </p:cNvCxnSpPr>
          <p:nvPr/>
        </p:nvCxnSpPr>
        <p:spPr>
          <a:xfrm rot="10800000">
            <a:off x="7029879" y="4440542"/>
            <a:ext cx="300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09" name="Google Shape;409;p77"/>
          <p:cNvCxnSpPr>
            <a:stCxn id="387" idx="0"/>
          </p:cNvCxnSpPr>
          <p:nvPr/>
        </p:nvCxnSpPr>
        <p:spPr>
          <a:xfrm rot="10800000">
            <a:off x="8160116" y="4440542"/>
            <a:ext cx="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10" name="Google Shape;410;p77"/>
          <p:cNvCxnSpPr>
            <a:stCxn id="404" idx="1"/>
            <a:endCxn id="376" idx="0"/>
          </p:cNvCxnSpPr>
          <p:nvPr/>
        </p:nvCxnSpPr>
        <p:spPr>
          <a:xfrm flipH="1">
            <a:off x="3799563" y="3140146"/>
            <a:ext cx="614400" cy="25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77"/>
          <p:cNvSpPr/>
          <p:nvPr/>
        </p:nvSpPr>
        <p:spPr>
          <a:xfrm>
            <a:off x="3303123" y="2206184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7"/>
          <p:cNvSpPr/>
          <p:nvPr/>
        </p:nvSpPr>
        <p:spPr>
          <a:xfrm>
            <a:off x="4367397" y="2206184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(Literature)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7"/>
          <p:cNvSpPr/>
          <p:nvPr/>
        </p:nvSpPr>
        <p:spPr>
          <a:xfrm>
            <a:off x="5426360" y="2206184"/>
            <a:ext cx="991838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(Source Code)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77"/>
          <p:cNvCxnSpPr>
            <a:stCxn id="412" idx="3"/>
            <a:endCxn id="413" idx="1"/>
          </p:cNvCxnSpPr>
          <p:nvPr/>
        </p:nvCxnSpPr>
        <p:spPr>
          <a:xfrm>
            <a:off x="5267397" y="2450353"/>
            <a:ext cx="15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5" name="Google Shape;415;p77"/>
          <p:cNvCxnSpPr>
            <a:stCxn id="411" idx="3"/>
            <a:endCxn id="412" idx="1"/>
          </p:cNvCxnSpPr>
          <p:nvPr/>
        </p:nvCxnSpPr>
        <p:spPr>
          <a:xfrm>
            <a:off x="4203123" y="2450353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p77"/>
          <p:cNvCxnSpPr>
            <a:stCxn id="413" idx="3"/>
            <a:endCxn id="417" idx="1"/>
          </p:cNvCxnSpPr>
          <p:nvPr/>
        </p:nvCxnSpPr>
        <p:spPr>
          <a:xfrm>
            <a:off x="6418198" y="2450353"/>
            <a:ext cx="1728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77"/>
          <p:cNvSpPr txBox="1"/>
          <p:nvPr/>
        </p:nvSpPr>
        <p:spPr>
          <a:xfrm>
            <a:off x="2123703" y="3494689"/>
            <a:ext cx="7451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7"/>
          <p:cNvSpPr txBox="1"/>
          <p:nvPr/>
        </p:nvSpPr>
        <p:spPr>
          <a:xfrm>
            <a:off x="1192657" y="2312363"/>
            <a:ext cx="90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77"/>
          <p:cNvCxnSpPr>
            <a:stCxn id="375" idx="3"/>
            <a:endCxn id="411" idx="1"/>
          </p:cNvCxnSpPr>
          <p:nvPr/>
        </p:nvCxnSpPr>
        <p:spPr>
          <a:xfrm flipH="1" rot="10800000">
            <a:off x="3152947" y="2450370"/>
            <a:ext cx="1503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7" name="Google Shape;417;p77"/>
          <p:cNvSpPr/>
          <p:nvPr/>
        </p:nvSpPr>
        <p:spPr>
          <a:xfrm>
            <a:off x="6591035" y="2209374"/>
            <a:ext cx="1533605" cy="488332"/>
          </a:xfrm>
          <a:prstGeom prst="diamond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7"/>
          <p:cNvSpPr txBox="1"/>
          <p:nvPr/>
        </p:nvSpPr>
        <p:spPr>
          <a:xfrm>
            <a:off x="7100237" y="2278040"/>
            <a:ext cx="559849" cy="34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Go?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7"/>
          <p:cNvSpPr txBox="1"/>
          <p:nvPr/>
        </p:nvSpPr>
        <p:spPr>
          <a:xfrm>
            <a:off x="7361116" y="2712473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7"/>
          <p:cNvSpPr txBox="1"/>
          <p:nvPr/>
        </p:nvSpPr>
        <p:spPr>
          <a:xfrm>
            <a:off x="7357109" y="1964796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7"/>
          <p:cNvSpPr/>
          <p:nvPr/>
        </p:nvSpPr>
        <p:spPr>
          <a:xfrm>
            <a:off x="3303123" y="1729126"/>
            <a:ext cx="3115075" cy="2462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Knowledge Augmentation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77"/>
          <p:cNvCxnSpPr>
            <a:stCxn id="417" idx="0"/>
            <a:endCxn id="424" idx="3"/>
          </p:cNvCxnSpPr>
          <p:nvPr/>
        </p:nvCxnSpPr>
        <p:spPr>
          <a:xfrm flipH="1" rot="5400000">
            <a:off x="6709538" y="1561074"/>
            <a:ext cx="357000" cy="93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77"/>
          <p:cNvCxnSpPr>
            <a:stCxn id="424" idx="1"/>
            <a:endCxn id="375" idx="0"/>
          </p:cNvCxnSpPr>
          <p:nvPr/>
        </p:nvCxnSpPr>
        <p:spPr>
          <a:xfrm flipH="1">
            <a:off x="2647023" y="1852231"/>
            <a:ext cx="656100" cy="35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77"/>
          <p:cNvCxnSpPr>
            <a:stCxn id="417" idx="2"/>
            <a:endCxn id="376" idx="1"/>
          </p:cNvCxnSpPr>
          <p:nvPr/>
        </p:nvCxnSpPr>
        <p:spPr>
          <a:xfrm rot="5400000">
            <a:off x="4884788" y="1162756"/>
            <a:ext cx="938100" cy="4008000"/>
          </a:xfrm>
          <a:prstGeom prst="bentConnector4">
            <a:avLst>
              <a:gd fmla="val 18929" name="adj1"/>
              <a:gd fmla="val 10570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77"/>
          <p:cNvSpPr txBox="1"/>
          <p:nvPr/>
        </p:nvSpPr>
        <p:spPr>
          <a:xfrm>
            <a:off x="324508" y="1076313"/>
            <a:ext cx="90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7"/>
          <p:cNvSpPr txBox="1"/>
          <p:nvPr/>
        </p:nvSpPr>
        <p:spPr>
          <a:xfrm>
            <a:off x="3942171" y="5916462"/>
            <a:ext cx="10060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7"/>
          <p:cNvSpPr/>
          <p:nvPr/>
        </p:nvSpPr>
        <p:spPr>
          <a:xfrm>
            <a:off x="5502189" y="5862717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7"/>
          <p:cNvSpPr/>
          <p:nvPr/>
        </p:nvSpPr>
        <p:spPr>
          <a:xfrm>
            <a:off x="6535049" y="5862717"/>
            <a:ext cx="1016047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7"/>
          <p:cNvSpPr/>
          <p:nvPr/>
        </p:nvSpPr>
        <p:spPr>
          <a:xfrm>
            <a:off x="7720309" y="5862717"/>
            <a:ext cx="960871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77"/>
          <p:cNvCxnSpPr>
            <a:stCxn id="430" idx="3"/>
            <a:endCxn id="431" idx="1"/>
          </p:cNvCxnSpPr>
          <p:nvPr/>
        </p:nvCxnSpPr>
        <p:spPr>
          <a:xfrm>
            <a:off x="6402189" y="6106887"/>
            <a:ext cx="1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77"/>
          <p:cNvSpPr/>
          <p:nvPr/>
        </p:nvSpPr>
        <p:spPr>
          <a:xfrm>
            <a:off x="8815250" y="5862717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77"/>
          <p:cNvCxnSpPr>
            <a:stCxn id="434" idx="3"/>
            <a:endCxn id="436" idx="1"/>
          </p:cNvCxnSpPr>
          <p:nvPr/>
        </p:nvCxnSpPr>
        <p:spPr>
          <a:xfrm>
            <a:off x="9715250" y="6106887"/>
            <a:ext cx="165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77"/>
          <p:cNvCxnSpPr>
            <a:stCxn id="432" idx="3"/>
            <a:endCxn id="434" idx="1"/>
          </p:cNvCxnSpPr>
          <p:nvPr/>
        </p:nvCxnSpPr>
        <p:spPr>
          <a:xfrm>
            <a:off x="8681180" y="6106887"/>
            <a:ext cx="13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77"/>
          <p:cNvSpPr/>
          <p:nvPr/>
        </p:nvSpPr>
        <p:spPr>
          <a:xfrm>
            <a:off x="9880554" y="5862717"/>
            <a:ext cx="1284226" cy="488332"/>
          </a:xfrm>
          <a:prstGeom prst="diamond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7"/>
          <p:cNvSpPr txBox="1"/>
          <p:nvPr/>
        </p:nvSpPr>
        <p:spPr>
          <a:xfrm>
            <a:off x="10065953" y="6004195"/>
            <a:ext cx="939800" cy="22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Retrain?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77"/>
          <p:cNvCxnSpPr>
            <a:stCxn id="431" idx="3"/>
            <a:endCxn id="432" idx="1"/>
          </p:cNvCxnSpPr>
          <p:nvPr/>
        </p:nvCxnSpPr>
        <p:spPr>
          <a:xfrm>
            <a:off x="7551096" y="6106887"/>
            <a:ext cx="16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77"/>
          <p:cNvSpPr txBox="1"/>
          <p:nvPr/>
        </p:nvSpPr>
        <p:spPr>
          <a:xfrm>
            <a:off x="10508706" y="6373418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77"/>
          <p:cNvCxnSpPr/>
          <p:nvPr/>
        </p:nvCxnSpPr>
        <p:spPr>
          <a:xfrm rot="10800000">
            <a:off x="3737171" y="1976626"/>
            <a:ext cx="4378" cy="2209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2" name="Google Shape;442;p77"/>
          <p:cNvCxnSpPr/>
          <p:nvPr/>
        </p:nvCxnSpPr>
        <p:spPr>
          <a:xfrm rot="10800000">
            <a:off x="4829371" y="1976626"/>
            <a:ext cx="3062" cy="2209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3" name="Google Shape;443;p77"/>
          <p:cNvCxnSpPr/>
          <p:nvPr/>
        </p:nvCxnSpPr>
        <p:spPr>
          <a:xfrm rot="10800000">
            <a:off x="5898710" y="1976625"/>
            <a:ext cx="0" cy="22094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4" name="Google Shape;444;p77"/>
          <p:cNvCxnSpPr>
            <a:stCxn id="391" idx="2"/>
            <a:endCxn id="430" idx="1"/>
          </p:cNvCxnSpPr>
          <p:nvPr/>
        </p:nvCxnSpPr>
        <p:spPr>
          <a:xfrm rot="5400000">
            <a:off x="7613406" y="3038574"/>
            <a:ext cx="957300" cy="5179500"/>
          </a:xfrm>
          <a:prstGeom prst="bentConnector4">
            <a:avLst>
              <a:gd fmla="val 37243" name="adj1"/>
              <a:gd fmla="val 104415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5" name="Google Shape;445;p77"/>
          <p:cNvSpPr txBox="1"/>
          <p:nvPr/>
        </p:nvSpPr>
        <p:spPr>
          <a:xfrm>
            <a:off x="10504699" y="5634973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77"/>
          <p:cNvCxnSpPr>
            <a:stCxn id="436" idx="0"/>
            <a:endCxn id="431" idx="0"/>
          </p:cNvCxnSpPr>
          <p:nvPr/>
        </p:nvCxnSpPr>
        <p:spPr>
          <a:xfrm rot="5400000">
            <a:off x="8782517" y="4123167"/>
            <a:ext cx="600" cy="3479700"/>
          </a:xfrm>
          <a:prstGeom prst="bentConnector3">
            <a:avLst>
              <a:gd fmla="val -3704166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77"/>
          <p:cNvCxnSpPr>
            <a:stCxn id="436" idx="2"/>
            <a:endCxn id="381" idx="2"/>
          </p:cNvCxnSpPr>
          <p:nvPr/>
        </p:nvCxnSpPr>
        <p:spPr>
          <a:xfrm flipH="1" rot="5400000">
            <a:off x="7110017" y="2938399"/>
            <a:ext cx="1201500" cy="5623800"/>
          </a:xfrm>
          <a:prstGeom prst="bentConnector3">
            <a:avLst>
              <a:gd fmla="val -1902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8"/>
          <p:cNvSpPr/>
          <p:nvPr/>
        </p:nvSpPr>
        <p:spPr>
          <a:xfrm>
            <a:off x="278280" y="200880"/>
            <a:ext cx="111459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간략화된 머신 러닝 개발 과정 (2/2)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8"/>
          <p:cNvSpPr/>
          <p:nvPr/>
        </p:nvSpPr>
        <p:spPr>
          <a:xfrm>
            <a:off x="957789" y="2697961"/>
            <a:ext cx="869632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8"/>
          <p:cNvSpPr/>
          <p:nvPr/>
        </p:nvSpPr>
        <p:spPr>
          <a:xfrm>
            <a:off x="2196352" y="2697961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(Acquisition)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8"/>
          <p:cNvSpPr/>
          <p:nvPr/>
        </p:nvSpPr>
        <p:spPr>
          <a:xfrm>
            <a:off x="3260626" y="2697961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8"/>
          <p:cNvSpPr/>
          <p:nvPr/>
        </p:nvSpPr>
        <p:spPr>
          <a:xfrm>
            <a:off x="4319589" y="2697961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78"/>
          <p:cNvCxnSpPr>
            <a:stCxn id="456" idx="3"/>
            <a:endCxn id="457" idx="1"/>
          </p:cNvCxnSpPr>
          <p:nvPr/>
        </p:nvCxnSpPr>
        <p:spPr>
          <a:xfrm>
            <a:off x="4160626" y="2942130"/>
            <a:ext cx="15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9" name="Google Shape;459;p78"/>
          <p:cNvCxnSpPr>
            <a:stCxn id="455" idx="3"/>
            <a:endCxn id="456" idx="1"/>
          </p:cNvCxnSpPr>
          <p:nvPr/>
        </p:nvCxnSpPr>
        <p:spPr>
          <a:xfrm>
            <a:off x="3096352" y="2942130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0" name="Google Shape;460;p78"/>
          <p:cNvSpPr/>
          <p:nvPr/>
        </p:nvSpPr>
        <p:spPr>
          <a:xfrm>
            <a:off x="5581655" y="2697961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8"/>
          <p:cNvSpPr/>
          <p:nvPr/>
        </p:nvSpPr>
        <p:spPr>
          <a:xfrm>
            <a:off x="6624666" y="2697961"/>
            <a:ext cx="900000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78"/>
          <p:cNvCxnSpPr>
            <a:stCxn id="460" idx="3"/>
            <a:endCxn id="461" idx="1"/>
          </p:cNvCxnSpPr>
          <p:nvPr/>
        </p:nvCxnSpPr>
        <p:spPr>
          <a:xfrm>
            <a:off x="6481655" y="2942130"/>
            <a:ext cx="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78"/>
          <p:cNvSpPr/>
          <p:nvPr/>
        </p:nvSpPr>
        <p:spPr>
          <a:xfrm>
            <a:off x="7657527" y="2697961"/>
            <a:ext cx="807917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8"/>
          <p:cNvSpPr/>
          <p:nvPr/>
        </p:nvSpPr>
        <p:spPr>
          <a:xfrm>
            <a:off x="8639587" y="2697961"/>
            <a:ext cx="807917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78"/>
          <p:cNvCxnSpPr>
            <a:stCxn id="461" idx="3"/>
            <a:endCxn id="463" idx="1"/>
          </p:cNvCxnSpPr>
          <p:nvPr/>
        </p:nvCxnSpPr>
        <p:spPr>
          <a:xfrm>
            <a:off x="7524666" y="2942130"/>
            <a:ext cx="1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78"/>
          <p:cNvSpPr/>
          <p:nvPr/>
        </p:nvSpPr>
        <p:spPr>
          <a:xfrm>
            <a:off x="9622140" y="2697961"/>
            <a:ext cx="1099168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endParaRPr/>
          </a:p>
        </p:txBody>
      </p:sp>
      <p:cxnSp>
        <p:nvCxnSpPr>
          <p:cNvPr id="467" name="Google Shape;467;p78"/>
          <p:cNvCxnSpPr>
            <a:stCxn id="464" idx="3"/>
            <a:endCxn id="466" idx="1"/>
          </p:cNvCxnSpPr>
          <p:nvPr/>
        </p:nvCxnSpPr>
        <p:spPr>
          <a:xfrm>
            <a:off x="9447504" y="2942130"/>
            <a:ext cx="17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78"/>
          <p:cNvSpPr/>
          <p:nvPr/>
        </p:nvSpPr>
        <p:spPr>
          <a:xfrm>
            <a:off x="11129357" y="2697961"/>
            <a:ext cx="1013648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Production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78"/>
          <p:cNvCxnSpPr>
            <a:stCxn id="466" idx="3"/>
            <a:endCxn id="468" idx="1"/>
          </p:cNvCxnSpPr>
          <p:nvPr/>
        </p:nvCxnSpPr>
        <p:spPr>
          <a:xfrm>
            <a:off x="10721308" y="2942130"/>
            <a:ext cx="40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0" name="Google Shape;470;p78"/>
          <p:cNvCxnSpPr>
            <a:stCxn id="463" idx="3"/>
            <a:endCxn id="464" idx="1"/>
          </p:cNvCxnSpPr>
          <p:nvPr/>
        </p:nvCxnSpPr>
        <p:spPr>
          <a:xfrm>
            <a:off x="8465444" y="2942130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1" name="Google Shape;471;p78"/>
          <p:cNvCxnSpPr>
            <a:endCxn id="461" idx="2"/>
          </p:cNvCxnSpPr>
          <p:nvPr/>
        </p:nvCxnSpPr>
        <p:spPr>
          <a:xfrm rot="10800000">
            <a:off x="7074666" y="3186300"/>
            <a:ext cx="1761300" cy="44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2" name="Google Shape;472;p78"/>
          <p:cNvCxnSpPr>
            <a:endCxn id="460" idx="2"/>
          </p:cNvCxnSpPr>
          <p:nvPr/>
        </p:nvCxnSpPr>
        <p:spPr>
          <a:xfrm rot="10800000">
            <a:off x="6031655" y="3186300"/>
            <a:ext cx="2804400" cy="44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78"/>
          <p:cNvSpPr/>
          <p:nvPr/>
        </p:nvSpPr>
        <p:spPr>
          <a:xfrm>
            <a:off x="2194737" y="3988891"/>
            <a:ext cx="3169978" cy="323256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Workflow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8"/>
          <p:cNvSpPr/>
          <p:nvPr/>
        </p:nvSpPr>
        <p:spPr>
          <a:xfrm>
            <a:off x="5364714" y="3988890"/>
            <a:ext cx="5558257" cy="323251"/>
          </a:xfrm>
          <a:prstGeom prst="rect">
            <a:avLst/>
          </a:prstGeom>
          <a:solidFill>
            <a:srgbClr val="B7C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Machine Learning Workflow</a:t>
            </a:r>
            <a:endParaRPr b="0" i="0" sz="1400" u="none" cap="none" strike="noStrike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78"/>
          <p:cNvSpPr/>
          <p:nvPr/>
        </p:nvSpPr>
        <p:spPr>
          <a:xfrm>
            <a:off x="10922971" y="3987801"/>
            <a:ext cx="1345227" cy="330201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Model Serving</a:t>
            </a:r>
            <a:endParaRPr b="0" i="0" sz="1400" u="none" cap="none" strike="noStrike">
              <a:solidFill>
                <a:srgbClr val="4F61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8"/>
          <p:cNvSpPr/>
          <p:nvPr/>
        </p:nvSpPr>
        <p:spPr>
          <a:xfrm>
            <a:off x="0" y="3987117"/>
            <a:ext cx="2194736" cy="325903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Project Initiation</a:t>
            </a:r>
            <a:endParaRPr b="0" i="0" sz="1400" u="none" cap="none" strike="noStrike">
              <a:solidFill>
                <a:srgbClr val="4F61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78"/>
          <p:cNvCxnSpPr/>
          <p:nvPr/>
        </p:nvCxnSpPr>
        <p:spPr>
          <a:xfrm>
            <a:off x="2169336" y="5207689"/>
            <a:ext cx="341231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78"/>
          <p:cNvSpPr txBox="1"/>
          <p:nvPr/>
        </p:nvSpPr>
        <p:spPr>
          <a:xfrm>
            <a:off x="4946551" y="4690078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78"/>
          <p:cNvCxnSpPr/>
          <p:nvPr/>
        </p:nvCxnSpPr>
        <p:spPr>
          <a:xfrm>
            <a:off x="5563561" y="5757079"/>
            <a:ext cx="5209921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78"/>
          <p:cNvCxnSpPr/>
          <p:nvPr/>
        </p:nvCxnSpPr>
        <p:spPr>
          <a:xfrm>
            <a:off x="2169336" y="6291333"/>
            <a:ext cx="34052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81" name="Google Shape;481;p78"/>
          <p:cNvCxnSpPr/>
          <p:nvPr/>
        </p:nvCxnSpPr>
        <p:spPr>
          <a:xfrm>
            <a:off x="10986471" y="6291333"/>
            <a:ext cx="113033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78"/>
          <p:cNvCxnSpPr/>
          <p:nvPr/>
        </p:nvCxnSpPr>
        <p:spPr>
          <a:xfrm>
            <a:off x="4287254" y="6291333"/>
            <a:ext cx="672153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3" name="Google Shape;483;p78"/>
          <p:cNvSpPr txBox="1"/>
          <p:nvPr/>
        </p:nvSpPr>
        <p:spPr>
          <a:xfrm>
            <a:off x="10584296" y="5767842"/>
            <a:ext cx="16065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78"/>
          <p:cNvCxnSpPr/>
          <p:nvPr/>
        </p:nvCxnSpPr>
        <p:spPr>
          <a:xfrm>
            <a:off x="2201433" y="5075910"/>
            <a:ext cx="9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5" name="Google Shape;485;p78"/>
          <p:cNvSpPr txBox="1"/>
          <p:nvPr/>
        </p:nvSpPr>
        <p:spPr>
          <a:xfrm>
            <a:off x="2194737" y="4542814"/>
            <a:ext cx="8935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78"/>
          <p:cNvCxnSpPr/>
          <p:nvPr/>
        </p:nvCxnSpPr>
        <p:spPr>
          <a:xfrm>
            <a:off x="3264850" y="4960620"/>
            <a:ext cx="846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7" name="Google Shape;487;p78"/>
          <p:cNvSpPr txBox="1"/>
          <p:nvPr/>
        </p:nvSpPr>
        <p:spPr>
          <a:xfrm>
            <a:off x="3288143" y="4422912"/>
            <a:ext cx="7729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78"/>
          <p:cNvCxnSpPr>
            <a:endCxn id="463" idx="2"/>
          </p:cNvCxnSpPr>
          <p:nvPr/>
        </p:nvCxnSpPr>
        <p:spPr>
          <a:xfrm rot="10800000">
            <a:off x="8061486" y="3186300"/>
            <a:ext cx="774600" cy="44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9" name="Google Shape;489;p78"/>
          <p:cNvCxnSpPr>
            <a:stCxn id="490" idx="2"/>
            <a:endCxn id="491" idx="3"/>
          </p:cNvCxnSpPr>
          <p:nvPr/>
        </p:nvCxnSpPr>
        <p:spPr>
          <a:xfrm rot="5400000">
            <a:off x="10005723" y="2721787"/>
            <a:ext cx="654300" cy="1180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78"/>
          <p:cNvSpPr/>
          <p:nvPr/>
        </p:nvSpPr>
        <p:spPr>
          <a:xfrm>
            <a:off x="22222" y="2695843"/>
            <a:ext cx="773054" cy="4883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78"/>
          <p:cNvCxnSpPr>
            <a:stCxn id="492" idx="3"/>
            <a:endCxn id="454" idx="1"/>
          </p:cNvCxnSpPr>
          <p:nvPr/>
        </p:nvCxnSpPr>
        <p:spPr>
          <a:xfrm>
            <a:off x="795276" y="2940012"/>
            <a:ext cx="1626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1" name="Google Shape;491;p78"/>
          <p:cNvSpPr/>
          <p:nvPr/>
        </p:nvSpPr>
        <p:spPr>
          <a:xfrm>
            <a:off x="6624666" y="3523295"/>
            <a:ext cx="3118121" cy="2316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Enhancement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78"/>
          <p:cNvSpPr/>
          <p:nvPr/>
        </p:nvSpPr>
        <p:spPr>
          <a:xfrm>
            <a:off x="3269093" y="3512661"/>
            <a:ext cx="1480710" cy="23169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8"/>
          <p:cNvSpPr/>
          <p:nvPr/>
        </p:nvSpPr>
        <p:spPr>
          <a:xfrm>
            <a:off x="10859475" y="2899650"/>
            <a:ext cx="126996" cy="85087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78"/>
          <p:cNvSpPr txBox="1"/>
          <p:nvPr/>
        </p:nvSpPr>
        <p:spPr>
          <a:xfrm>
            <a:off x="10880243" y="2674851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78"/>
          <p:cNvSpPr txBox="1"/>
          <p:nvPr/>
        </p:nvSpPr>
        <p:spPr>
          <a:xfrm>
            <a:off x="10734582" y="2991503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78"/>
          <p:cNvCxnSpPr>
            <a:stCxn id="457" idx="3"/>
            <a:endCxn id="460" idx="1"/>
          </p:cNvCxnSpPr>
          <p:nvPr/>
        </p:nvCxnSpPr>
        <p:spPr>
          <a:xfrm>
            <a:off x="5219589" y="2942130"/>
            <a:ext cx="36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78"/>
          <p:cNvCxnSpPr>
            <a:stCxn id="499" idx="2"/>
            <a:endCxn id="494" idx="3"/>
          </p:cNvCxnSpPr>
          <p:nvPr/>
        </p:nvCxnSpPr>
        <p:spPr>
          <a:xfrm rot="5400000">
            <a:off x="4734417" y="2998142"/>
            <a:ext cx="645600" cy="61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9" name="Google Shape;499;p78"/>
          <p:cNvSpPr/>
          <p:nvPr/>
        </p:nvSpPr>
        <p:spPr>
          <a:xfrm>
            <a:off x="5301219" y="2897755"/>
            <a:ext cx="126996" cy="85087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8"/>
          <p:cNvSpPr txBox="1"/>
          <p:nvPr/>
        </p:nvSpPr>
        <p:spPr>
          <a:xfrm>
            <a:off x="5327803" y="2732180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8"/>
          <p:cNvSpPr txBox="1"/>
          <p:nvPr/>
        </p:nvSpPr>
        <p:spPr>
          <a:xfrm>
            <a:off x="5154101" y="2982200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78"/>
          <p:cNvCxnSpPr>
            <a:stCxn id="494" idx="1"/>
            <a:endCxn id="455" idx="2"/>
          </p:cNvCxnSpPr>
          <p:nvPr/>
        </p:nvCxnSpPr>
        <p:spPr>
          <a:xfrm rot="10800000">
            <a:off x="2646293" y="3186310"/>
            <a:ext cx="622800" cy="44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3" name="Google Shape;503;p78"/>
          <p:cNvCxnSpPr/>
          <p:nvPr/>
        </p:nvCxnSpPr>
        <p:spPr>
          <a:xfrm>
            <a:off x="2196352" y="3158075"/>
            <a:ext cx="0" cy="80432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4" name="Google Shape;504;p78"/>
          <p:cNvCxnSpPr/>
          <p:nvPr/>
        </p:nvCxnSpPr>
        <p:spPr>
          <a:xfrm>
            <a:off x="5574559" y="3191940"/>
            <a:ext cx="0" cy="77046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5" name="Google Shape;505;p78"/>
          <p:cNvCxnSpPr/>
          <p:nvPr/>
        </p:nvCxnSpPr>
        <p:spPr>
          <a:xfrm>
            <a:off x="5211122" y="3200407"/>
            <a:ext cx="0" cy="761993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6" name="Google Shape;506;p78"/>
          <p:cNvCxnSpPr/>
          <p:nvPr/>
        </p:nvCxnSpPr>
        <p:spPr>
          <a:xfrm>
            <a:off x="10773482" y="3200407"/>
            <a:ext cx="0" cy="761993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7" name="Google Shape;507;p78"/>
          <p:cNvCxnSpPr/>
          <p:nvPr/>
        </p:nvCxnSpPr>
        <p:spPr>
          <a:xfrm>
            <a:off x="11129357" y="3208874"/>
            <a:ext cx="0" cy="753526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8" name="Google Shape;508;p78"/>
          <p:cNvCxnSpPr/>
          <p:nvPr/>
        </p:nvCxnSpPr>
        <p:spPr>
          <a:xfrm>
            <a:off x="3263152" y="3191942"/>
            <a:ext cx="0" cy="76088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09" name="Google Shape;509;p78"/>
          <p:cNvSpPr txBox="1"/>
          <p:nvPr/>
        </p:nvSpPr>
        <p:spPr>
          <a:xfrm>
            <a:off x="6556219" y="5215300"/>
            <a:ext cx="3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Machine/Deep Learning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" name="Google Shape;510;p78"/>
          <p:cNvCxnSpPr/>
          <p:nvPr/>
        </p:nvCxnSpPr>
        <p:spPr>
          <a:xfrm>
            <a:off x="1114423" y="5766392"/>
            <a:ext cx="10549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511" name="Google Shape;511;p78"/>
          <p:cNvCxnSpPr/>
          <p:nvPr/>
        </p:nvCxnSpPr>
        <p:spPr>
          <a:xfrm>
            <a:off x="1112617" y="3175009"/>
            <a:ext cx="0" cy="777818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2" name="Google Shape;512;p78"/>
          <p:cNvCxnSpPr/>
          <p:nvPr/>
        </p:nvCxnSpPr>
        <p:spPr>
          <a:xfrm>
            <a:off x="1103428" y="5207689"/>
            <a:ext cx="1065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513" name="Google Shape;513;p78"/>
          <p:cNvCxnSpPr/>
          <p:nvPr/>
        </p:nvCxnSpPr>
        <p:spPr>
          <a:xfrm>
            <a:off x="5589875" y="5207686"/>
            <a:ext cx="518360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78"/>
          <p:cNvCxnSpPr/>
          <p:nvPr/>
        </p:nvCxnSpPr>
        <p:spPr>
          <a:xfrm>
            <a:off x="3235225" y="5760046"/>
            <a:ext cx="232833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5" name="Google Shape;515;p78"/>
          <p:cNvCxnSpPr/>
          <p:nvPr/>
        </p:nvCxnSpPr>
        <p:spPr>
          <a:xfrm>
            <a:off x="2177784" y="5760046"/>
            <a:ext cx="1065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6" name="Google Shape;516;p78"/>
          <p:cNvCxnSpPr/>
          <p:nvPr/>
        </p:nvCxnSpPr>
        <p:spPr>
          <a:xfrm>
            <a:off x="10789625" y="5204717"/>
            <a:ext cx="88896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17" name="Google Shape;517;p78"/>
          <p:cNvCxnSpPr/>
          <p:nvPr/>
        </p:nvCxnSpPr>
        <p:spPr>
          <a:xfrm>
            <a:off x="10785392" y="5752933"/>
            <a:ext cx="88896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78"/>
          <p:cNvCxnSpPr>
            <a:stCxn id="519" idx="1"/>
            <a:endCxn id="492" idx="2"/>
          </p:cNvCxnSpPr>
          <p:nvPr/>
        </p:nvCxnSpPr>
        <p:spPr>
          <a:xfrm rot="10800000">
            <a:off x="408896" y="3184076"/>
            <a:ext cx="117300" cy="430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78"/>
          <p:cNvSpPr/>
          <p:nvPr/>
        </p:nvSpPr>
        <p:spPr>
          <a:xfrm>
            <a:off x="526196" y="3512661"/>
            <a:ext cx="1300519" cy="2044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Go/No-Go Decision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78"/>
          <p:cNvCxnSpPr>
            <a:stCxn id="454" idx="3"/>
            <a:endCxn id="455" idx="1"/>
          </p:cNvCxnSpPr>
          <p:nvPr/>
        </p:nvCxnSpPr>
        <p:spPr>
          <a:xfrm>
            <a:off x="1827421" y="2942130"/>
            <a:ext cx="36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78"/>
          <p:cNvCxnSpPr>
            <a:stCxn id="522" idx="2"/>
            <a:endCxn id="519" idx="3"/>
          </p:cNvCxnSpPr>
          <p:nvPr/>
        </p:nvCxnSpPr>
        <p:spPr>
          <a:xfrm rot="5400000">
            <a:off x="1587533" y="3222126"/>
            <a:ext cx="632100" cy="15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2" name="Google Shape;522;p78"/>
          <p:cNvSpPr/>
          <p:nvPr/>
        </p:nvSpPr>
        <p:spPr>
          <a:xfrm>
            <a:off x="1916885" y="2897789"/>
            <a:ext cx="126996" cy="85087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8"/>
          <p:cNvSpPr txBox="1"/>
          <p:nvPr/>
        </p:nvSpPr>
        <p:spPr>
          <a:xfrm>
            <a:off x="1943469" y="2718984"/>
            <a:ext cx="2696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8"/>
          <p:cNvSpPr txBox="1"/>
          <p:nvPr/>
        </p:nvSpPr>
        <p:spPr>
          <a:xfrm>
            <a:off x="1769767" y="2969004"/>
            <a:ext cx="2776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78"/>
          <p:cNvSpPr txBox="1"/>
          <p:nvPr/>
        </p:nvSpPr>
        <p:spPr>
          <a:xfrm>
            <a:off x="4164463" y="2009249"/>
            <a:ext cx="13993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Validation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Transformation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78"/>
          <p:cNvSpPr txBox="1"/>
          <p:nvPr/>
        </p:nvSpPr>
        <p:spPr>
          <a:xfrm>
            <a:off x="3022289" y="2145302"/>
            <a:ext cx="13993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Presentation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Storytelling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"/>
          <p:cNvSpPr/>
          <p:nvPr/>
        </p:nvSpPr>
        <p:spPr>
          <a:xfrm>
            <a:off x="278280" y="200880"/>
            <a:ext cx="111452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 러닝 시스템의 숨겨진 기술적 빚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80" y="1813320"/>
            <a:ext cx="11854440" cy="39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"/>
          <p:cNvSpPr/>
          <p:nvPr/>
        </p:nvSpPr>
        <p:spPr>
          <a:xfrm>
            <a:off x="4221000" y="5949360"/>
            <a:ext cx="369648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Hidden Technical Debt in Machine Learning Systems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"/>
          <p:cNvSpPr/>
          <p:nvPr/>
        </p:nvSpPr>
        <p:spPr>
          <a:xfrm>
            <a:off x="4843800" y="3885840"/>
            <a:ext cx="633240" cy="487080"/>
          </a:xfrm>
          <a:prstGeom prst="rect">
            <a:avLst/>
          </a:prstGeom>
          <a:noFill/>
          <a:ln cap="flat" cmpd="sng" w="7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"/>
          <p:cNvSpPr/>
          <p:nvPr/>
        </p:nvSpPr>
        <p:spPr>
          <a:xfrm>
            <a:off x="1631520" y="1026000"/>
            <a:ext cx="96735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Toy Problem &lt; PoC Problem &lt; PoC System &lt;&lt; Production System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"/>
          <p:cNvSpPr/>
          <p:nvPr/>
        </p:nvSpPr>
        <p:spPr>
          <a:xfrm>
            <a:off x="2459520" y="2277000"/>
            <a:ext cx="7271280" cy="136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2017-11-29T00:28:57Z</dcterms:created>
  <dc:creator>Tae-Hyung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24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28</vt:i4>
  </property>
</Properties>
</file>
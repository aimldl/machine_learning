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  <p:sldMasterId id="2147483674" r:id="rId5"/>
    <p:sldMasterId id="2147483687" r:id="rId6"/>
    <p:sldMasterId id="2147483700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y="6858000" cx="12192000"/>
  <p:notesSz cx="6858000" cy="9144000"/>
  <p:embeddedFontLst>
    <p:embeddedFont>
      <p:font typeface="Robo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34" roundtripDataSignature="AMtx7miZUolU5O6bBLYjURkJGOj7DfNS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3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2.xml"/><Relationship Id="rId32" Type="http://schemas.openxmlformats.org/officeDocument/2006/relationships/font" Target="fonts/Roboto-italic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34" Type="http://customschemas.google.com/relationships/presentationmetadata" Target="metadata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playground.tensorflow.org/#activation=linear&amp;batchSize=10&amp;dataset=gauss&amp;regDataset=reg-plane&amp;learningRate=0.0001&amp;regularizationRate=0&amp;noise=0&amp;networkShape=4&amp;seed=0.27433&amp;showTestData=false&amp;discretize=false&amp;percTrainData=50&amp;x=true&amp;y=true&amp;xTimesY=false&amp;xSquared=false&amp;ySquared=false&amp;cosX=false&amp;sinX=false&amp;cosY=false&amp;sinY=false&amp;collectStats=false&amp;problem=classification&amp;initZero=false&amp;hideText=false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:notes"/>
          <p:cNvSpPr/>
          <p:nvPr>
            <p:ph idx="2" type="sldImg"/>
          </p:nvPr>
        </p:nvSpPr>
        <p:spPr>
          <a:xfrm>
            <a:off x="380880" y="685800"/>
            <a:ext cx="6095160" cy="3428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1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자막: KT와 상관없이 개인자격으로 왔음을 밝힙니다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4차산업혁명 대비 전문가 릴레이 특강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결론을 첫 슬라이드에 넣는다.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Approaches의 슬라이드 삽입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DL 소개 슬라이드 업데이트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NLP 소개 슬라이드 업데이트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기타 분야 소개 슬라이드 추가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:notes"/>
          <p:cNvSpPr/>
          <p:nvPr>
            <p:ph idx="2" type="sldImg"/>
          </p:nvPr>
        </p:nvSpPr>
        <p:spPr>
          <a:xfrm>
            <a:off x="380880" y="685800"/>
            <a:ext cx="6095160" cy="3428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2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자막: KT와 상관없이 개인자격으로 왔음을 밝힙니다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4차산업혁명 대비 전문가 릴레이 특강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결론을 첫 슬라이드에 넣는다.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Approaches의 슬라이드 삽입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DL 소개 슬라이드 업데이트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NLP 소개 슬라이드 업데이트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27879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eriod"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기타 분야 소개 슬라이드 추가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:notes"/>
          <p:cNvSpPr/>
          <p:nvPr>
            <p:ph idx="2" type="sldImg"/>
          </p:nvPr>
        </p:nvSpPr>
        <p:spPr>
          <a:xfrm>
            <a:off x="380880" y="685800"/>
            <a:ext cx="6095160" cy="3428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3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:notes"/>
          <p:cNvSpPr/>
          <p:nvPr>
            <p:ph idx="2" type="sldImg"/>
          </p:nvPr>
        </p:nvSpPr>
        <p:spPr>
          <a:xfrm>
            <a:off x="38088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p4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Deep Learning이 각광을 받았다.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내 얘기 그 전에는 NN 안쓴다 였는데, 이를 경계로 DL이 잘 된다는 인식이 생겼다.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DL도 쓸만한 알고리즘이라는 패러다임 시프트가 됐다.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:notes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:notes"/>
          <p:cNvSpPr/>
          <p:nvPr>
            <p:ph idx="2" type="sldImg"/>
          </p:nvPr>
        </p:nvSpPr>
        <p:spPr>
          <a:xfrm>
            <a:off x="380880" y="685800"/>
            <a:ext cx="6095160" cy="3428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5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360" lvl="0" marL="343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strike="noStrike">
                <a:latin typeface="Arial"/>
                <a:ea typeface="Arial"/>
                <a:cs typeface="Arial"/>
                <a:sym typeface="Arial"/>
              </a:rPr>
              <a:t>Formal definition 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-342360" lvl="0" marL="343080" rtl="0" algn="l">
              <a:lnSpc>
                <a:spcPct val="100000"/>
              </a:lnSpc>
              <a:spcBef>
                <a:spcPts val="241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Tom M. Mitchell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342360" lvl="0" marL="343080" rtl="0" algn="l">
              <a:lnSpc>
                <a:spcPct val="100000"/>
              </a:lnSpc>
              <a:spcBef>
                <a:spcPts val="241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computer program is said to learn from experience </a:t>
            </a:r>
            <a:r>
              <a:rPr b="0" i="1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with respect to some class of tasks </a:t>
            </a:r>
            <a:r>
              <a:rPr b="0" i="1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and performance measure </a:t>
            </a:r>
            <a:r>
              <a:rPr b="0" i="1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 if its performance at tasks in </a:t>
            </a:r>
            <a:r>
              <a:rPr b="0" i="1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as measured by </a:t>
            </a:r>
            <a:r>
              <a:rPr b="0" i="1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improves with experience </a:t>
            </a:r>
            <a:r>
              <a:rPr b="0" i="1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342360" lvl="0" marL="343080" rtl="0" algn="l">
              <a:lnSpc>
                <a:spcPct val="100000"/>
              </a:lnSpc>
              <a:spcBef>
                <a:spcPts val="241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342360" lvl="0" marL="343080" rtl="0" algn="l">
              <a:lnSpc>
                <a:spcPct val="100000"/>
              </a:lnSpc>
              <a:spcBef>
                <a:spcPts val="241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is learning?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342360" lvl="0" marL="343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5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:notes"/>
          <p:cNvSpPr/>
          <p:nvPr>
            <p:ph idx="2" type="sldImg"/>
          </p:nvPr>
        </p:nvSpPr>
        <p:spPr>
          <a:xfrm>
            <a:off x="380880" y="685800"/>
            <a:ext cx="6095160" cy="3428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6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360" lvl="0" marL="343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400" u="sng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playground.tensorflow.org/#activation=linear&amp;batchSize=10&amp;dataset=gauss&amp;regDataset=reg-plane&amp;learningRate=0.0001&amp;regularizationRate=0&amp;noise=0&amp;networkShape=4&amp;seed=0.27433&amp;showTestData=false&amp;discretize=false&amp;percTrainData=50&amp;x=true&amp;y=true&amp;xTimesY=false&amp;xSquared=false&amp;ySquared=false&amp;cosX=false&amp;sinX=false&amp;cosY=false&amp;sinY=false&amp;collectStats=false&amp;problem=classification&amp;initZero=false&amp;hideText=false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6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7:notes"/>
          <p:cNvSpPr/>
          <p:nvPr>
            <p:ph idx="2" type="sldImg"/>
          </p:nvPr>
        </p:nvSpPr>
        <p:spPr>
          <a:xfrm>
            <a:off x="38088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p7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latin typeface="Arial"/>
                <a:ea typeface="Arial"/>
                <a:cs typeface="Arial"/>
                <a:sym typeface="Arial"/>
              </a:rPr>
              <a:t>감정, 언어 (음성), 후각, 학습, 게임, 미각, 촉각, 시각, 청각, 얼굴인식, 보행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7:notes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8:notes"/>
          <p:cNvSpPr/>
          <p:nvPr>
            <p:ph idx="2" type="sldImg"/>
          </p:nvPr>
        </p:nvSpPr>
        <p:spPr>
          <a:xfrm>
            <a:off x="38088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8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맥커록-피츠 모델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Perceptron과의 차이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8:notes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9:notes"/>
          <p:cNvSpPr/>
          <p:nvPr>
            <p:ph idx="2" type="sldImg"/>
          </p:nvPr>
        </p:nvSpPr>
        <p:spPr>
          <a:xfrm>
            <a:off x="38088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6" name="Google Shape;386;p9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9:notes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0:notes"/>
          <p:cNvSpPr/>
          <p:nvPr>
            <p:ph idx="2" type="sldImg"/>
          </p:nvPr>
        </p:nvSpPr>
        <p:spPr>
          <a:xfrm>
            <a:off x="38088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p10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latin typeface="Malgun Gothic"/>
                <a:ea typeface="Malgun Gothic"/>
                <a:cs typeface="Malgun Gothic"/>
                <a:sym typeface="Malgun Gothic"/>
              </a:rPr>
              <a:t>= Feed-forward (neural) network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latin typeface="Malgun Gothic"/>
                <a:ea typeface="Malgun Gothic"/>
                <a:cs typeface="Malgun Gothic"/>
                <a:sym typeface="Malgun Gothic"/>
              </a:rPr>
              <a:t>= Fully-Connected Network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latin typeface="Malgun Gothic"/>
                <a:ea typeface="Malgun Gothic"/>
                <a:cs typeface="Malgun Gothic"/>
                <a:sym typeface="Malgun Gothic"/>
              </a:rPr>
              <a:t>= Network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0:notes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p1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p1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3:notes"/>
          <p:cNvSpPr/>
          <p:nvPr>
            <p:ph idx="2" type="sldImg"/>
          </p:nvPr>
        </p:nvSpPr>
        <p:spPr>
          <a:xfrm>
            <a:off x="380880" y="685800"/>
            <a:ext cx="6095160" cy="3428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2" name="Google Shape;432;p13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정의, 용어, 주요 역사, 응용분야, 이론/실기 </a:t>
            </a:r>
            <a:r>
              <a:rPr b="1" lang="en-US" sz="120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 관련 학과 수업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슬라이드 60장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인공지능의 기본 개념과 발전 방향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국내외 다양한 기업의 인공지능 적용사례</a:t>
            </a:r>
            <a:br>
              <a:rPr lang="en-US"/>
            </a:b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 직무 수행을 위한 필요 전공/자격 등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인공지능(AI) 전문가가 되기 위한 준비 및 태도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“인공지능 전문가 직무의 이해”라는 주제에는 3개의 키워드가 있습니다.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인공지능, 직무, 전문가. 각 키워드를 3개 파트에 나누어,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첫째 인공지능의 소개, 둘째 인공지능 직무, 셋째, 인공지능 전문가의 직무 혹은 커리어에 대해 알아봅니다.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 번째 주제인 인공지능의 소개를 들으시면, 인공지능에 대한 기본 개념, 발전방향, 및 적용 사례를 이해하실 수 있습니다.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그리고 “인공지능 직무의 이해”에서는 직무 수행에 필요한 전공 혹은 자격 등에 대해 채용 관점에서 알아보겠습니다.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마지막으로 “인공지능 전문가의 직무”에서는 저의 커리어 포트폴리오를 간략히 소개드리겠습니다.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3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p1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5:notes"/>
          <p:cNvSpPr/>
          <p:nvPr>
            <p:ph idx="2" type="sldImg"/>
          </p:nvPr>
        </p:nvSpPr>
        <p:spPr>
          <a:xfrm>
            <a:off x="380880" y="685800"/>
            <a:ext cx="6095160" cy="3428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5" name="Google Shape;455;p15:notes"/>
          <p:cNvSpPr txBox="1"/>
          <p:nvPr>
            <p:ph idx="1"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5:notes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6:notes"/>
          <p:cNvSpPr/>
          <p:nvPr>
            <p:ph idx="2" type="sldImg"/>
          </p:nvPr>
        </p:nvSpPr>
        <p:spPr>
          <a:xfrm>
            <a:off x="38088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1" name="Google Shape;461;p16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개발직군 채용공고 </a:t>
            </a:r>
            <a:r>
              <a:rPr b="0" lang="en-US" sz="9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https://www.woowahan.com/#/recruit/tech</a:t>
            </a:r>
            <a:endParaRPr b="0" sz="96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9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해외/국내에서 인공지능 직무 수행을 위해 요구하는 </a:t>
            </a:r>
            <a:endParaRPr b="0" sz="9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6:notes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7:notes"/>
          <p:cNvSpPr/>
          <p:nvPr>
            <p:ph idx="2" type="sldImg"/>
          </p:nvPr>
        </p:nvSpPr>
        <p:spPr>
          <a:xfrm>
            <a:off x="38088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0" name="Google Shape;490;p17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정의, 용어, 주요 역사, 응용분야, 이론/실기 </a:t>
            </a:r>
            <a:r>
              <a:rPr b="1" lang="en-US" sz="120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 관련 학과 수업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슬라이드 60장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인공지능의 기본 개념과 발전 방향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국내외 다양한 기업의 인공지능 적용사례</a:t>
            </a:r>
            <a:br>
              <a:rPr lang="en-US"/>
            </a:b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 직무 수행을 위한 필요 전공/자격 등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인공지능(AI) 전문가가 되기 위한 준비 및 태도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“인공지능 전문가 직무의 이해”라는 주제에는 3개의 키워드가 있습니다.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인공지능, 직무, 전문가. 각 키워드를 3개 파트에 나누어,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첫째 인공지능의 소개, 둘째 인공지능 직무, 셋째, 인공지능 전문가의 직무 혹은 커리어에 대해 알아봅니다.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 번째 주제인 인공지능의 소개를 들으시면, 인공지능에 대한 기본 개념, 발전방향, 및 적용 사례를 이해하실 수 있습니다.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그리고 “인공지능 직무의 이해”에서는 직무 수행에 필요한 전공 혹은 자격 등에 대해 채용 관점에서 알아보겠습니다.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마지막으로 “인공지능 전문가의 직무”에서는 저의 커리어 포트폴리오를 간략히 소개드리겠습니다.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7:notes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c556626d4a_0_0:notes"/>
          <p:cNvSpPr/>
          <p:nvPr>
            <p:ph idx="2" type="sldImg"/>
          </p:nvPr>
        </p:nvSpPr>
        <p:spPr>
          <a:xfrm>
            <a:off x="380880" y="685800"/>
            <a:ext cx="60954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5" name="Google Shape;505;gc556626d4a_0_0:notes"/>
          <p:cNvSpPr txBox="1"/>
          <p:nvPr>
            <p:ph idx="1" type="body"/>
          </p:nvPr>
        </p:nvSpPr>
        <p:spPr>
          <a:xfrm>
            <a:off x="685800" y="4343400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정의, 용어, 주요 역사, 응용분야, 이론/실기 </a:t>
            </a:r>
            <a:r>
              <a:rPr b="1" lang="en-US" sz="120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 관련 학과 수업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슬라이드 60장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인공지능의 기본 개념과 발전 방향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국내외 다양한 기업의 인공지능 적용사례</a:t>
            </a:r>
            <a:br>
              <a:rPr lang="en-US"/>
            </a:b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 직무 수행을 위한 필요 전공/자격 등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인공지능(AI) 전문가가 되기 위한 준비 및 태도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“인공지능 전문가 직무의 이해”라는 주제에는 3개의 키워드가 있습니다.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인공지능, 직무, 전문가. 각 키워드를 3개 파트에 나누어,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첫째 인공지능의 소개, 둘째 인공지능 직무, 셋째, 인공지능 전문가의 직무 혹은 커리어에 대해 알아봅니다.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 번째 주제인 인공지능의 소개를 들으시면, 인공지능에 대한 기본 개념, 발전방향, 및 적용 사례를 이해하실 수 있습니다.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그리고 “인공지능 직무의 이해”에서는 직무 수행에 필요한 전공 혹은 자격 등에 대해 채용 관점에서 알아보겠습니다.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마지막으로 “인공지능 전문가의 직무”에서는 저의 커리어 포트폴리오를 간략히 소개드리겠습니다.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gc556626d4a_0_0:notes"/>
          <p:cNvSpPr txBox="1"/>
          <p:nvPr/>
        </p:nvSpPr>
        <p:spPr>
          <a:xfrm>
            <a:off x="3884760" y="8685360"/>
            <a:ext cx="29715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4" name="Google Shape;524;p1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9:notes"/>
          <p:cNvSpPr/>
          <p:nvPr>
            <p:ph idx="2" type="sldImg"/>
          </p:nvPr>
        </p:nvSpPr>
        <p:spPr>
          <a:xfrm>
            <a:off x="38088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3" name="Google Shape;533;p19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정의, 용어, 주요 역사, 응용분야, 이론/실기 </a:t>
            </a:r>
            <a:r>
              <a:rPr b="1" lang="en-US" sz="1200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 관련 학과 수업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슬라이드 60장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인공지능의 기본 개념과 발전 방향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국내외 다양한 기업의 인공지능 적용사례</a:t>
            </a:r>
            <a:br>
              <a:rPr lang="en-US"/>
            </a:b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 직무 수행을 위한 필요 전공/자격 등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l  </a:t>
            </a:r>
            <a:r>
              <a:rPr b="1" lang="en-US" sz="2000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인공지능(AI) 전문가가 되기 위한 준비 및 태도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“인공지능 전문가 직무의 이해”라는 주제에는 3개의 키워드가 있습니다.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인공지능, 직무, 전문가. 각 키워드를 3개 파트에 나누어,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첫째 인공지능의 소개, 둘째 인공지능 직무, 셋째, 인공지능 전문가의 직무 혹은 커리어에 대해 알아봅니다.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첫 번째 주제인 인공지능의 소개를 들으시면, 인공지능에 대한 기본 개념, 발전방향, 및 적용 사례를 이해하실 수 있습니다.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그리고 “인공지능 직무의 이해”에서는 직무 수행에 필요한 전공 혹은 자격 등에 대해 채용 관점에서 알아보겠습니다.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마지막으로 “인공지능 전문가의 직무”에서는 저의 커리어 포트폴리오를 간략히 소개드리겠습니다.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9:notes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3" name="Google Shape;543;p2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1"/>
          <p:cNvSpPr txBox="1"/>
          <p:nvPr>
            <p:ph idx="1" type="subTitle"/>
          </p:nvPr>
        </p:nvSpPr>
        <p:spPr>
          <a:xfrm>
            <a:off x="0" y="764640"/>
            <a:ext cx="121917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2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2"/>
          <p:cNvSpPr txBox="1"/>
          <p:nvPr>
            <p:ph idx="1" type="body"/>
          </p:nvPr>
        </p:nvSpPr>
        <p:spPr>
          <a:xfrm>
            <a:off x="0" y="764640"/>
            <a:ext cx="121917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3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3"/>
          <p:cNvSpPr txBox="1"/>
          <p:nvPr>
            <p:ph idx="1" type="body"/>
          </p:nvPr>
        </p:nvSpPr>
        <p:spPr>
          <a:xfrm>
            <a:off x="0" y="764640"/>
            <a:ext cx="59493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3"/>
          <p:cNvSpPr txBox="1"/>
          <p:nvPr>
            <p:ph idx="2" type="body"/>
          </p:nvPr>
        </p:nvSpPr>
        <p:spPr>
          <a:xfrm>
            <a:off x="6247080" y="764640"/>
            <a:ext cx="59493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5"/>
          <p:cNvSpPr txBox="1"/>
          <p:nvPr>
            <p:ph idx="1" type="subTitle"/>
          </p:nvPr>
        </p:nvSpPr>
        <p:spPr>
          <a:xfrm>
            <a:off x="0" y="-27360"/>
            <a:ext cx="12191760" cy="3670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6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6"/>
          <p:cNvSpPr txBox="1"/>
          <p:nvPr>
            <p:ph idx="1" type="body"/>
          </p:nvPr>
        </p:nvSpPr>
        <p:spPr>
          <a:xfrm>
            <a:off x="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6"/>
          <p:cNvSpPr txBox="1"/>
          <p:nvPr>
            <p:ph idx="2" type="body"/>
          </p:nvPr>
        </p:nvSpPr>
        <p:spPr>
          <a:xfrm>
            <a:off x="6247080" y="764640"/>
            <a:ext cx="59493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6"/>
          <p:cNvSpPr txBox="1"/>
          <p:nvPr>
            <p:ph idx="3" type="body"/>
          </p:nvPr>
        </p:nvSpPr>
        <p:spPr>
          <a:xfrm>
            <a:off x="0" y="373608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7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7"/>
          <p:cNvSpPr txBox="1"/>
          <p:nvPr>
            <p:ph idx="1" type="body"/>
          </p:nvPr>
        </p:nvSpPr>
        <p:spPr>
          <a:xfrm>
            <a:off x="0" y="764640"/>
            <a:ext cx="59493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7"/>
          <p:cNvSpPr txBox="1"/>
          <p:nvPr>
            <p:ph idx="2" type="body"/>
          </p:nvPr>
        </p:nvSpPr>
        <p:spPr>
          <a:xfrm>
            <a:off x="624708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7"/>
          <p:cNvSpPr txBox="1"/>
          <p:nvPr>
            <p:ph idx="3" type="body"/>
          </p:nvPr>
        </p:nvSpPr>
        <p:spPr>
          <a:xfrm>
            <a:off x="6247080" y="373608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8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" type="body"/>
          </p:nvPr>
        </p:nvSpPr>
        <p:spPr>
          <a:xfrm>
            <a:off x="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8"/>
          <p:cNvSpPr txBox="1"/>
          <p:nvPr>
            <p:ph idx="2" type="body"/>
          </p:nvPr>
        </p:nvSpPr>
        <p:spPr>
          <a:xfrm>
            <a:off x="624708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8"/>
          <p:cNvSpPr txBox="1"/>
          <p:nvPr>
            <p:ph idx="3" type="body"/>
          </p:nvPr>
        </p:nvSpPr>
        <p:spPr>
          <a:xfrm>
            <a:off x="0" y="3736080"/>
            <a:ext cx="121917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9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9"/>
          <p:cNvSpPr txBox="1"/>
          <p:nvPr>
            <p:ph idx="1" type="body"/>
          </p:nvPr>
        </p:nvSpPr>
        <p:spPr>
          <a:xfrm>
            <a:off x="0" y="764640"/>
            <a:ext cx="121917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9"/>
          <p:cNvSpPr txBox="1"/>
          <p:nvPr>
            <p:ph idx="2" type="body"/>
          </p:nvPr>
        </p:nvSpPr>
        <p:spPr>
          <a:xfrm>
            <a:off x="0" y="3736080"/>
            <a:ext cx="121917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0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0"/>
          <p:cNvSpPr txBox="1"/>
          <p:nvPr>
            <p:ph idx="1" type="body"/>
          </p:nvPr>
        </p:nvSpPr>
        <p:spPr>
          <a:xfrm>
            <a:off x="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0"/>
          <p:cNvSpPr txBox="1"/>
          <p:nvPr>
            <p:ph idx="2" type="body"/>
          </p:nvPr>
        </p:nvSpPr>
        <p:spPr>
          <a:xfrm>
            <a:off x="624708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0"/>
          <p:cNvSpPr txBox="1"/>
          <p:nvPr>
            <p:ph idx="3" type="body"/>
          </p:nvPr>
        </p:nvSpPr>
        <p:spPr>
          <a:xfrm>
            <a:off x="0" y="373608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4" type="body"/>
          </p:nvPr>
        </p:nvSpPr>
        <p:spPr>
          <a:xfrm>
            <a:off x="6247080" y="373608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1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1"/>
          <p:cNvSpPr txBox="1"/>
          <p:nvPr>
            <p:ph idx="1" type="body"/>
          </p:nvPr>
        </p:nvSpPr>
        <p:spPr>
          <a:xfrm>
            <a:off x="0" y="76464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1"/>
          <p:cNvSpPr txBox="1"/>
          <p:nvPr>
            <p:ph idx="2" type="body"/>
          </p:nvPr>
        </p:nvSpPr>
        <p:spPr>
          <a:xfrm>
            <a:off x="4122000" y="76464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3" type="body"/>
          </p:nvPr>
        </p:nvSpPr>
        <p:spPr>
          <a:xfrm>
            <a:off x="8244360" y="76464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1"/>
          <p:cNvSpPr txBox="1"/>
          <p:nvPr>
            <p:ph idx="4" type="body"/>
          </p:nvPr>
        </p:nvSpPr>
        <p:spPr>
          <a:xfrm>
            <a:off x="0" y="373608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1"/>
          <p:cNvSpPr txBox="1"/>
          <p:nvPr>
            <p:ph idx="5" type="body"/>
          </p:nvPr>
        </p:nvSpPr>
        <p:spPr>
          <a:xfrm>
            <a:off x="4122000" y="373608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6" type="body"/>
          </p:nvPr>
        </p:nvSpPr>
        <p:spPr>
          <a:xfrm>
            <a:off x="8244360" y="373608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2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" type="subTitle"/>
          </p:nvPr>
        </p:nvSpPr>
        <p:spPr>
          <a:xfrm>
            <a:off x="0" y="764640"/>
            <a:ext cx="121917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3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3"/>
          <p:cNvSpPr txBox="1"/>
          <p:nvPr>
            <p:ph idx="1" type="body"/>
          </p:nvPr>
        </p:nvSpPr>
        <p:spPr>
          <a:xfrm>
            <a:off x="0" y="764640"/>
            <a:ext cx="121917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4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4"/>
          <p:cNvSpPr txBox="1"/>
          <p:nvPr>
            <p:ph idx="1" type="body"/>
          </p:nvPr>
        </p:nvSpPr>
        <p:spPr>
          <a:xfrm>
            <a:off x="0" y="764640"/>
            <a:ext cx="59493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4"/>
          <p:cNvSpPr txBox="1"/>
          <p:nvPr>
            <p:ph idx="2" type="body"/>
          </p:nvPr>
        </p:nvSpPr>
        <p:spPr>
          <a:xfrm>
            <a:off x="6247080" y="764640"/>
            <a:ext cx="59493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5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6"/>
          <p:cNvSpPr txBox="1"/>
          <p:nvPr>
            <p:ph idx="1" type="subTitle"/>
          </p:nvPr>
        </p:nvSpPr>
        <p:spPr>
          <a:xfrm>
            <a:off x="0" y="-27360"/>
            <a:ext cx="12191760" cy="3670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7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7"/>
          <p:cNvSpPr txBox="1"/>
          <p:nvPr>
            <p:ph idx="1" type="body"/>
          </p:nvPr>
        </p:nvSpPr>
        <p:spPr>
          <a:xfrm>
            <a:off x="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7"/>
          <p:cNvSpPr txBox="1"/>
          <p:nvPr>
            <p:ph idx="2" type="body"/>
          </p:nvPr>
        </p:nvSpPr>
        <p:spPr>
          <a:xfrm>
            <a:off x="6247080" y="764640"/>
            <a:ext cx="59493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7"/>
          <p:cNvSpPr txBox="1"/>
          <p:nvPr>
            <p:ph idx="3" type="body"/>
          </p:nvPr>
        </p:nvSpPr>
        <p:spPr>
          <a:xfrm>
            <a:off x="0" y="373608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8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8"/>
          <p:cNvSpPr txBox="1"/>
          <p:nvPr>
            <p:ph idx="1" type="body"/>
          </p:nvPr>
        </p:nvSpPr>
        <p:spPr>
          <a:xfrm>
            <a:off x="0" y="764640"/>
            <a:ext cx="59493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8"/>
          <p:cNvSpPr txBox="1"/>
          <p:nvPr>
            <p:ph idx="2" type="body"/>
          </p:nvPr>
        </p:nvSpPr>
        <p:spPr>
          <a:xfrm>
            <a:off x="624708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8"/>
          <p:cNvSpPr txBox="1"/>
          <p:nvPr>
            <p:ph idx="3" type="body"/>
          </p:nvPr>
        </p:nvSpPr>
        <p:spPr>
          <a:xfrm>
            <a:off x="6247080" y="373608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9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9"/>
          <p:cNvSpPr txBox="1"/>
          <p:nvPr>
            <p:ph idx="1" type="body"/>
          </p:nvPr>
        </p:nvSpPr>
        <p:spPr>
          <a:xfrm>
            <a:off x="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9"/>
          <p:cNvSpPr txBox="1"/>
          <p:nvPr>
            <p:ph idx="2" type="body"/>
          </p:nvPr>
        </p:nvSpPr>
        <p:spPr>
          <a:xfrm>
            <a:off x="624708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9"/>
          <p:cNvSpPr txBox="1"/>
          <p:nvPr>
            <p:ph idx="3" type="body"/>
          </p:nvPr>
        </p:nvSpPr>
        <p:spPr>
          <a:xfrm>
            <a:off x="0" y="3736080"/>
            <a:ext cx="121917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0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0"/>
          <p:cNvSpPr txBox="1"/>
          <p:nvPr>
            <p:ph idx="1" type="body"/>
          </p:nvPr>
        </p:nvSpPr>
        <p:spPr>
          <a:xfrm>
            <a:off x="0" y="764640"/>
            <a:ext cx="121917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0"/>
          <p:cNvSpPr txBox="1"/>
          <p:nvPr>
            <p:ph idx="2" type="body"/>
          </p:nvPr>
        </p:nvSpPr>
        <p:spPr>
          <a:xfrm>
            <a:off x="0" y="3736080"/>
            <a:ext cx="121917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1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1"/>
          <p:cNvSpPr txBox="1"/>
          <p:nvPr>
            <p:ph idx="1" type="body"/>
          </p:nvPr>
        </p:nvSpPr>
        <p:spPr>
          <a:xfrm>
            <a:off x="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1"/>
          <p:cNvSpPr txBox="1"/>
          <p:nvPr>
            <p:ph idx="2" type="body"/>
          </p:nvPr>
        </p:nvSpPr>
        <p:spPr>
          <a:xfrm>
            <a:off x="624708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51"/>
          <p:cNvSpPr txBox="1"/>
          <p:nvPr>
            <p:ph idx="3" type="body"/>
          </p:nvPr>
        </p:nvSpPr>
        <p:spPr>
          <a:xfrm>
            <a:off x="0" y="373608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1"/>
          <p:cNvSpPr txBox="1"/>
          <p:nvPr>
            <p:ph idx="4" type="body"/>
          </p:nvPr>
        </p:nvSpPr>
        <p:spPr>
          <a:xfrm>
            <a:off x="6247080" y="373608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2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52"/>
          <p:cNvSpPr txBox="1"/>
          <p:nvPr>
            <p:ph idx="1" type="body"/>
          </p:nvPr>
        </p:nvSpPr>
        <p:spPr>
          <a:xfrm>
            <a:off x="0" y="76464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2"/>
          <p:cNvSpPr txBox="1"/>
          <p:nvPr>
            <p:ph idx="2" type="body"/>
          </p:nvPr>
        </p:nvSpPr>
        <p:spPr>
          <a:xfrm>
            <a:off x="4122000" y="76464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2"/>
          <p:cNvSpPr txBox="1"/>
          <p:nvPr>
            <p:ph idx="3" type="body"/>
          </p:nvPr>
        </p:nvSpPr>
        <p:spPr>
          <a:xfrm>
            <a:off x="8244360" y="76464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52"/>
          <p:cNvSpPr txBox="1"/>
          <p:nvPr>
            <p:ph idx="4" type="body"/>
          </p:nvPr>
        </p:nvSpPr>
        <p:spPr>
          <a:xfrm>
            <a:off x="0" y="373608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2"/>
          <p:cNvSpPr txBox="1"/>
          <p:nvPr>
            <p:ph idx="5" type="body"/>
          </p:nvPr>
        </p:nvSpPr>
        <p:spPr>
          <a:xfrm>
            <a:off x="4122000" y="373608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2"/>
          <p:cNvSpPr txBox="1"/>
          <p:nvPr>
            <p:ph idx="6" type="body"/>
          </p:nvPr>
        </p:nvSpPr>
        <p:spPr>
          <a:xfrm>
            <a:off x="8244360" y="373608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4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64"/>
          <p:cNvSpPr txBox="1"/>
          <p:nvPr>
            <p:ph idx="1" type="subTitle"/>
          </p:nvPr>
        </p:nvSpPr>
        <p:spPr>
          <a:xfrm>
            <a:off x="0" y="764640"/>
            <a:ext cx="121917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5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65"/>
          <p:cNvSpPr txBox="1"/>
          <p:nvPr>
            <p:ph idx="1" type="body"/>
          </p:nvPr>
        </p:nvSpPr>
        <p:spPr>
          <a:xfrm>
            <a:off x="0" y="764640"/>
            <a:ext cx="121917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6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66"/>
          <p:cNvSpPr txBox="1"/>
          <p:nvPr>
            <p:ph idx="1" type="body"/>
          </p:nvPr>
        </p:nvSpPr>
        <p:spPr>
          <a:xfrm>
            <a:off x="0" y="764640"/>
            <a:ext cx="59493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66"/>
          <p:cNvSpPr txBox="1"/>
          <p:nvPr>
            <p:ph idx="2" type="body"/>
          </p:nvPr>
        </p:nvSpPr>
        <p:spPr>
          <a:xfrm>
            <a:off x="6247080" y="764640"/>
            <a:ext cx="59493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7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8"/>
          <p:cNvSpPr txBox="1"/>
          <p:nvPr>
            <p:ph idx="1" type="subTitle"/>
          </p:nvPr>
        </p:nvSpPr>
        <p:spPr>
          <a:xfrm>
            <a:off x="0" y="-27360"/>
            <a:ext cx="12191760" cy="3670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9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69"/>
          <p:cNvSpPr txBox="1"/>
          <p:nvPr>
            <p:ph idx="1" type="body"/>
          </p:nvPr>
        </p:nvSpPr>
        <p:spPr>
          <a:xfrm>
            <a:off x="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69"/>
          <p:cNvSpPr txBox="1"/>
          <p:nvPr>
            <p:ph idx="2" type="body"/>
          </p:nvPr>
        </p:nvSpPr>
        <p:spPr>
          <a:xfrm>
            <a:off x="6247080" y="764640"/>
            <a:ext cx="59493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69"/>
          <p:cNvSpPr txBox="1"/>
          <p:nvPr>
            <p:ph idx="3" type="body"/>
          </p:nvPr>
        </p:nvSpPr>
        <p:spPr>
          <a:xfrm>
            <a:off x="0" y="373608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0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70"/>
          <p:cNvSpPr txBox="1"/>
          <p:nvPr>
            <p:ph idx="1" type="body"/>
          </p:nvPr>
        </p:nvSpPr>
        <p:spPr>
          <a:xfrm>
            <a:off x="0" y="764640"/>
            <a:ext cx="59493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70"/>
          <p:cNvSpPr txBox="1"/>
          <p:nvPr>
            <p:ph idx="2" type="body"/>
          </p:nvPr>
        </p:nvSpPr>
        <p:spPr>
          <a:xfrm>
            <a:off x="624708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70"/>
          <p:cNvSpPr txBox="1"/>
          <p:nvPr>
            <p:ph idx="3" type="body"/>
          </p:nvPr>
        </p:nvSpPr>
        <p:spPr>
          <a:xfrm>
            <a:off x="6247080" y="373608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1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71"/>
          <p:cNvSpPr txBox="1"/>
          <p:nvPr>
            <p:ph idx="1" type="body"/>
          </p:nvPr>
        </p:nvSpPr>
        <p:spPr>
          <a:xfrm>
            <a:off x="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71"/>
          <p:cNvSpPr txBox="1"/>
          <p:nvPr>
            <p:ph idx="2" type="body"/>
          </p:nvPr>
        </p:nvSpPr>
        <p:spPr>
          <a:xfrm>
            <a:off x="624708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71"/>
          <p:cNvSpPr txBox="1"/>
          <p:nvPr>
            <p:ph idx="3" type="body"/>
          </p:nvPr>
        </p:nvSpPr>
        <p:spPr>
          <a:xfrm>
            <a:off x="0" y="3736080"/>
            <a:ext cx="121917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2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72"/>
          <p:cNvSpPr txBox="1"/>
          <p:nvPr>
            <p:ph idx="1" type="body"/>
          </p:nvPr>
        </p:nvSpPr>
        <p:spPr>
          <a:xfrm>
            <a:off x="0" y="764640"/>
            <a:ext cx="121917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72"/>
          <p:cNvSpPr txBox="1"/>
          <p:nvPr>
            <p:ph idx="2" type="body"/>
          </p:nvPr>
        </p:nvSpPr>
        <p:spPr>
          <a:xfrm>
            <a:off x="0" y="3736080"/>
            <a:ext cx="121917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3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73"/>
          <p:cNvSpPr txBox="1"/>
          <p:nvPr>
            <p:ph idx="1" type="body"/>
          </p:nvPr>
        </p:nvSpPr>
        <p:spPr>
          <a:xfrm>
            <a:off x="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73"/>
          <p:cNvSpPr txBox="1"/>
          <p:nvPr>
            <p:ph idx="2" type="body"/>
          </p:nvPr>
        </p:nvSpPr>
        <p:spPr>
          <a:xfrm>
            <a:off x="624708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73"/>
          <p:cNvSpPr txBox="1"/>
          <p:nvPr>
            <p:ph idx="3" type="body"/>
          </p:nvPr>
        </p:nvSpPr>
        <p:spPr>
          <a:xfrm>
            <a:off x="0" y="373608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73"/>
          <p:cNvSpPr txBox="1"/>
          <p:nvPr>
            <p:ph idx="4" type="body"/>
          </p:nvPr>
        </p:nvSpPr>
        <p:spPr>
          <a:xfrm>
            <a:off x="6247080" y="373608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4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74"/>
          <p:cNvSpPr txBox="1"/>
          <p:nvPr>
            <p:ph idx="1" type="body"/>
          </p:nvPr>
        </p:nvSpPr>
        <p:spPr>
          <a:xfrm>
            <a:off x="0" y="76464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74"/>
          <p:cNvSpPr txBox="1"/>
          <p:nvPr>
            <p:ph idx="2" type="body"/>
          </p:nvPr>
        </p:nvSpPr>
        <p:spPr>
          <a:xfrm>
            <a:off x="4122000" y="76464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74"/>
          <p:cNvSpPr txBox="1"/>
          <p:nvPr>
            <p:ph idx="3" type="body"/>
          </p:nvPr>
        </p:nvSpPr>
        <p:spPr>
          <a:xfrm>
            <a:off x="8244360" y="76464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74"/>
          <p:cNvSpPr txBox="1"/>
          <p:nvPr>
            <p:ph idx="4" type="body"/>
          </p:nvPr>
        </p:nvSpPr>
        <p:spPr>
          <a:xfrm>
            <a:off x="0" y="373608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74"/>
          <p:cNvSpPr txBox="1"/>
          <p:nvPr>
            <p:ph idx="5" type="body"/>
          </p:nvPr>
        </p:nvSpPr>
        <p:spPr>
          <a:xfrm>
            <a:off x="4122000" y="373608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74"/>
          <p:cNvSpPr txBox="1"/>
          <p:nvPr>
            <p:ph idx="6" type="body"/>
          </p:nvPr>
        </p:nvSpPr>
        <p:spPr>
          <a:xfrm>
            <a:off x="8244360" y="373608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5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75"/>
          <p:cNvSpPr txBox="1"/>
          <p:nvPr>
            <p:ph idx="1" type="subTitle"/>
          </p:nvPr>
        </p:nvSpPr>
        <p:spPr>
          <a:xfrm>
            <a:off x="0" y="764640"/>
            <a:ext cx="121917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6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76"/>
          <p:cNvSpPr txBox="1"/>
          <p:nvPr>
            <p:ph idx="1" type="body"/>
          </p:nvPr>
        </p:nvSpPr>
        <p:spPr>
          <a:xfrm>
            <a:off x="0" y="764640"/>
            <a:ext cx="121917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7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77"/>
          <p:cNvSpPr txBox="1"/>
          <p:nvPr>
            <p:ph idx="1" type="body"/>
          </p:nvPr>
        </p:nvSpPr>
        <p:spPr>
          <a:xfrm>
            <a:off x="0" y="764640"/>
            <a:ext cx="59493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77"/>
          <p:cNvSpPr txBox="1"/>
          <p:nvPr>
            <p:ph idx="2" type="body"/>
          </p:nvPr>
        </p:nvSpPr>
        <p:spPr>
          <a:xfrm>
            <a:off x="6247080" y="764640"/>
            <a:ext cx="59493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8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9"/>
          <p:cNvSpPr txBox="1"/>
          <p:nvPr>
            <p:ph idx="1" type="subTitle"/>
          </p:nvPr>
        </p:nvSpPr>
        <p:spPr>
          <a:xfrm>
            <a:off x="0" y="-27360"/>
            <a:ext cx="12191760" cy="3670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0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80"/>
          <p:cNvSpPr txBox="1"/>
          <p:nvPr>
            <p:ph idx="1" type="body"/>
          </p:nvPr>
        </p:nvSpPr>
        <p:spPr>
          <a:xfrm>
            <a:off x="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80"/>
          <p:cNvSpPr txBox="1"/>
          <p:nvPr>
            <p:ph idx="2" type="body"/>
          </p:nvPr>
        </p:nvSpPr>
        <p:spPr>
          <a:xfrm>
            <a:off x="6247080" y="764640"/>
            <a:ext cx="59493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80"/>
          <p:cNvSpPr txBox="1"/>
          <p:nvPr>
            <p:ph idx="3" type="body"/>
          </p:nvPr>
        </p:nvSpPr>
        <p:spPr>
          <a:xfrm>
            <a:off x="0" y="373608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1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81"/>
          <p:cNvSpPr txBox="1"/>
          <p:nvPr>
            <p:ph idx="1" type="body"/>
          </p:nvPr>
        </p:nvSpPr>
        <p:spPr>
          <a:xfrm>
            <a:off x="0" y="764640"/>
            <a:ext cx="59493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81"/>
          <p:cNvSpPr txBox="1"/>
          <p:nvPr>
            <p:ph idx="2" type="body"/>
          </p:nvPr>
        </p:nvSpPr>
        <p:spPr>
          <a:xfrm>
            <a:off x="624708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81"/>
          <p:cNvSpPr txBox="1"/>
          <p:nvPr>
            <p:ph idx="3" type="body"/>
          </p:nvPr>
        </p:nvSpPr>
        <p:spPr>
          <a:xfrm>
            <a:off x="6247080" y="373608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2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82"/>
          <p:cNvSpPr txBox="1"/>
          <p:nvPr>
            <p:ph idx="1" type="body"/>
          </p:nvPr>
        </p:nvSpPr>
        <p:spPr>
          <a:xfrm>
            <a:off x="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82"/>
          <p:cNvSpPr txBox="1"/>
          <p:nvPr>
            <p:ph idx="2" type="body"/>
          </p:nvPr>
        </p:nvSpPr>
        <p:spPr>
          <a:xfrm>
            <a:off x="624708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82"/>
          <p:cNvSpPr txBox="1"/>
          <p:nvPr>
            <p:ph idx="3" type="body"/>
          </p:nvPr>
        </p:nvSpPr>
        <p:spPr>
          <a:xfrm>
            <a:off x="0" y="3736080"/>
            <a:ext cx="121917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3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83"/>
          <p:cNvSpPr txBox="1"/>
          <p:nvPr>
            <p:ph idx="1" type="body"/>
          </p:nvPr>
        </p:nvSpPr>
        <p:spPr>
          <a:xfrm>
            <a:off x="0" y="764640"/>
            <a:ext cx="121917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83"/>
          <p:cNvSpPr txBox="1"/>
          <p:nvPr>
            <p:ph idx="2" type="body"/>
          </p:nvPr>
        </p:nvSpPr>
        <p:spPr>
          <a:xfrm>
            <a:off x="0" y="3736080"/>
            <a:ext cx="121917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4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84"/>
          <p:cNvSpPr txBox="1"/>
          <p:nvPr>
            <p:ph idx="1" type="body"/>
          </p:nvPr>
        </p:nvSpPr>
        <p:spPr>
          <a:xfrm>
            <a:off x="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84"/>
          <p:cNvSpPr txBox="1"/>
          <p:nvPr>
            <p:ph idx="2" type="body"/>
          </p:nvPr>
        </p:nvSpPr>
        <p:spPr>
          <a:xfrm>
            <a:off x="624708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84"/>
          <p:cNvSpPr txBox="1"/>
          <p:nvPr>
            <p:ph idx="3" type="body"/>
          </p:nvPr>
        </p:nvSpPr>
        <p:spPr>
          <a:xfrm>
            <a:off x="0" y="373608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84"/>
          <p:cNvSpPr txBox="1"/>
          <p:nvPr>
            <p:ph idx="4" type="body"/>
          </p:nvPr>
        </p:nvSpPr>
        <p:spPr>
          <a:xfrm>
            <a:off x="6247080" y="373608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5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85"/>
          <p:cNvSpPr txBox="1"/>
          <p:nvPr>
            <p:ph idx="1" type="body"/>
          </p:nvPr>
        </p:nvSpPr>
        <p:spPr>
          <a:xfrm>
            <a:off x="0" y="76464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85"/>
          <p:cNvSpPr txBox="1"/>
          <p:nvPr>
            <p:ph idx="2" type="body"/>
          </p:nvPr>
        </p:nvSpPr>
        <p:spPr>
          <a:xfrm>
            <a:off x="4122000" y="76464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85"/>
          <p:cNvSpPr txBox="1"/>
          <p:nvPr>
            <p:ph idx="3" type="body"/>
          </p:nvPr>
        </p:nvSpPr>
        <p:spPr>
          <a:xfrm>
            <a:off x="8244360" y="76464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85"/>
          <p:cNvSpPr txBox="1"/>
          <p:nvPr>
            <p:ph idx="4" type="body"/>
          </p:nvPr>
        </p:nvSpPr>
        <p:spPr>
          <a:xfrm>
            <a:off x="0" y="373608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85"/>
          <p:cNvSpPr txBox="1"/>
          <p:nvPr>
            <p:ph idx="5" type="body"/>
          </p:nvPr>
        </p:nvSpPr>
        <p:spPr>
          <a:xfrm>
            <a:off x="4122000" y="373608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85"/>
          <p:cNvSpPr txBox="1"/>
          <p:nvPr>
            <p:ph idx="6" type="body"/>
          </p:nvPr>
        </p:nvSpPr>
        <p:spPr>
          <a:xfrm>
            <a:off x="8244360" y="373608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3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53"/>
          <p:cNvSpPr txBox="1"/>
          <p:nvPr>
            <p:ph idx="1" type="subTitle"/>
          </p:nvPr>
        </p:nvSpPr>
        <p:spPr>
          <a:xfrm>
            <a:off x="0" y="764640"/>
            <a:ext cx="121917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4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54"/>
          <p:cNvSpPr txBox="1"/>
          <p:nvPr>
            <p:ph idx="1" type="body"/>
          </p:nvPr>
        </p:nvSpPr>
        <p:spPr>
          <a:xfrm>
            <a:off x="0" y="764640"/>
            <a:ext cx="121917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5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55"/>
          <p:cNvSpPr txBox="1"/>
          <p:nvPr>
            <p:ph idx="1" type="body"/>
          </p:nvPr>
        </p:nvSpPr>
        <p:spPr>
          <a:xfrm>
            <a:off x="0" y="764640"/>
            <a:ext cx="59493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55"/>
          <p:cNvSpPr txBox="1"/>
          <p:nvPr>
            <p:ph idx="2" type="body"/>
          </p:nvPr>
        </p:nvSpPr>
        <p:spPr>
          <a:xfrm>
            <a:off x="6247080" y="764640"/>
            <a:ext cx="59493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6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7"/>
          <p:cNvSpPr txBox="1"/>
          <p:nvPr>
            <p:ph idx="1" type="subTitle"/>
          </p:nvPr>
        </p:nvSpPr>
        <p:spPr>
          <a:xfrm>
            <a:off x="0" y="-27360"/>
            <a:ext cx="12191760" cy="3670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8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58"/>
          <p:cNvSpPr txBox="1"/>
          <p:nvPr>
            <p:ph idx="1" type="body"/>
          </p:nvPr>
        </p:nvSpPr>
        <p:spPr>
          <a:xfrm>
            <a:off x="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58"/>
          <p:cNvSpPr txBox="1"/>
          <p:nvPr>
            <p:ph idx="2" type="body"/>
          </p:nvPr>
        </p:nvSpPr>
        <p:spPr>
          <a:xfrm>
            <a:off x="6247080" y="764640"/>
            <a:ext cx="59493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58"/>
          <p:cNvSpPr txBox="1"/>
          <p:nvPr>
            <p:ph idx="3" type="body"/>
          </p:nvPr>
        </p:nvSpPr>
        <p:spPr>
          <a:xfrm>
            <a:off x="0" y="373608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9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59"/>
          <p:cNvSpPr txBox="1"/>
          <p:nvPr>
            <p:ph idx="1" type="body"/>
          </p:nvPr>
        </p:nvSpPr>
        <p:spPr>
          <a:xfrm>
            <a:off x="0" y="764640"/>
            <a:ext cx="59493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59"/>
          <p:cNvSpPr txBox="1"/>
          <p:nvPr>
            <p:ph idx="2" type="body"/>
          </p:nvPr>
        </p:nvSpPr>
        <p:spPr>
          <a:xfrm>
            <a:off x="624708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59"/>
          <p:cNvSpPr txBox="1"/>
          <p:nvPr>
            <p:ph idx="3" type="body"/>
          </p:nvPr>
        </p:nvSpPr>
        <p:spPr>
          <a:xfrm>
            <a:off x="6247080" y="373608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0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60"/>
          <p:cNvSpPr txBox="1"/>
          <p:nvPr>
            <p:ph idx="1" type="body"/>
          </p:nvPr>
        </p:nvSpPr>
        <p:spPr>
          <a:xfrm>
            <a:off x="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60"/>
          <p:cNvSpPr txBox="1"/>
          <p:nvPr>
            <p:ph idx="2" type="body"/>
          </p:nvPr>
        </p:nvSpPr>
        <p:spPr>
          <a:xfrm>
            <a:off x="624708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60"/>
          <p:cNvSpPr txBox="1"/>
          <p:nvPr>
            <p:ph idx="3" type="body"/>
          </p:nvPr>
        </p:nvSpPr>
        <p:spPr>
          <a:xfrm>
            <a:off x="0" y="3736080"/>
            <a:ext cx="121917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1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61"/>
          <p:cNvSpPr txBox="1"/>
          <p:nvPr>
            <p:ph idx="1" type="body"/>
          </p:nvPr>
        </p:nvSpPr>
        <p:spPr>
          <a:xfrm>
            <a:off x="0" y="764640"/>
            <a:ext cx="121917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61"/>
          <p:cNvSpPr txBox="1"/>
          <p:nvPr>
            <p:ph idx="2" type="body"/>
          </p:nvPr>
        </p:nvSpPr>
        <p:spPr>
          <a:xfrm>
            <a:off x="0" y="3736080"/>
            <a:ext cx="121917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2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62"/>
          <p:cNvSpPr txBox="1"/>
          <p:nvPr>
            <p:ph idx="1" type="body"/>
          </p:nvPr>
        </p:nvSpPr>
        <p:spPr>
          <a:xfrm>
            <a:off x="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62"/>
          <p:cNvSpPr txBox="1"/>
          <p:nvPr>
            <p:ph idx="2" type="body"/>
          </p:nvPr>
        </p:nvSpPr>
        <p:spPr>
          <a:xfrm>
            <a:off x="6247080" y="76464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62"/>
          <p:cNvSpPr txBox="1"/>
          <p:nvPr>
            <p:ph idx="3" type="body"/>
          </p:nvPr>
        </p:nvSpPr>
        <p:spPr>
          <a:xfrm>
            <a:off x="0" y="373608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62"/>
          <p:cNvSpPr txBox="1"/>
          <p:nvPr>
            <p:ph idx="4" type="body"/>
          </p:nvPr>
        </p:nvSpPr>
        <p:spPr>
          <a:xfrm>
            <a:off x="6247080" y="3736080"/>
            <a:ext cx="594936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3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63"/>
          <p:cNvSpPr txBox="1"/>
          <p:nvPr>
            <p:ph idx="1" type="body"/>
          </p:nvPr>
        </p:nvSpPr>
        <p:spPr>
          <a:xfrm>
            <a:off x="0" y="76464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63"/>
          <p:cNvSpPr txBox="1"/>
          <p:nvPr>
            <p:ph idx="2" type="body"/>
          </p:nvPr>
        </p:nvSpPr>
        <p:spPr>
          <a:xfrm>
            <a:off x="4122000" y="76464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63"/>
          <p:cNvSpPr txBox="1"/>
          <p:nvPr>
            <p:ph idx="3" type="body"/>
          </p:nvPr>
        </p:nvSpPr>
        <p:spPr>
          <a:xfrm>
            <a:off x="8244360" y="76464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63"/>
          <p:cNvSpPr txBox="1"/>
          <p:nvPr>
            <p:ph idx="4" type="body"/>
          </p:nvPr>
        </p:nvSpPr>
        <p:spPr>
          <a:xfrm>
            <a:off x="0" y="373608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63"/>
          <p:cNvSpPr txBox="1"/>
          <p:nvPr>
            <p:ph idx="5" type="body"/>
          </p:nvPr>
        </p:nvSpPr>
        <p:spPr>
          <a:xfrm>
            <a:off x="4122000" y="373608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63"/>
          <p:cNvSpPr txBox="1"/>
          <p:nvPr>
            <p:ph idx="6" type="body"/>
          </p:nvPr>
        </p:nvSpPr>
        <p:spPr>
          <a:xfrm>
            <a:off x="8244360" y="3736080"/>
            <a:ext cx="3925440" cy="27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3" Type="http://schemas.openxmlformats.org/officeDocument/2006/relationships/theme" Target="../theme/theme6.xml"/><Relationship Id="rId1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23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5"/>
          <p:cNvSpPr txBox="1"/>
          <p:nvPr>
            <p:ph idx="1" type="body"/>
          </p:nvPr>
        </p:nvSpPr>
        <p:spPr>
          <a:xfrm>
            <a:off x="0" y="764640"/>
            <a:ext cx="121917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25"/>
          <p:cNvSpPr txBox="1"/>
          <p:nvPr>
            <p:ph idx="10" type="dt"/>
          </p:nvPr>
        </p:nvSpPr>
        <p:spPr>
          <a:xfrm>
            <a:off x="0" y="6492960"/>
            <a:ext cx="26524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25"/>
          <p:cNvSpPr txBox="1"/>
          <p:nvPr>
            <p:ph idx="11" type="ftr"/>
          </p:nvPr>
        </p:nvSpPr>
        <p:spPr>
          <a:xfrm>
            <a:off x="3887640" y="6525360"/>
            <a:ext cx="4512240" cy="332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25"/>
          <p:cNvSpPr txBox="1"/>
          <p:nvPr>
            <p:ph idx="12" type="sldNum"/>
          </p:nvPr>
        </p:nvSpPr>
        <p:spPr>
          <a:xfrm>
            <a:off x="9360360" y="65203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2B2B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2B2B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2B2B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2B2B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2B2B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2B2B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2B2B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2B2B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2B2B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499680" y="144360"/>
            <a:ext cx="11109240" cy="33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499680" y="550440"/>
            <a:ext cx="11232720" cy="561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27"/>
          <p:cNvSpPr txBox="1"/>
          <p:nvPr>
            <p:ph idx="11" type="ftr"/>
          </p:nvPr>
        </p:nvSpPr>
        <p:spPr>
          <a:xfrm>
            <a:off x="3887640" y="6525360"/>
            <a:ext cx="4512240" cy="332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27"/>
          <p:cNvSpPr txBox="1"/>
          <p:nvPr>
            <p:ph idx="12" type="sldNum"/>
          </p:nvPr>
        </p:nvSpPr>
        <p:spPr>
          <a:xfrm>
            <a:off x="9360360" y="65203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/>
          <p:nvPr>
            <p:ph type="title"/>
          </p:nvPr>
        </p:nvSpPr>
        <p:spPr>
          <a:xfrm>
            <a:off x="0" y="-27360"/>
            <a:ext cx="12191760" cy="7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1" type="body"/>
          </p:nvPr>
        </p:nvSpPr>
        <p:spPr>
          <a:xfrm>
            <a:off x="0" y="764640"/>
            <a:ext cx="12191760" cy="5688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10" type="dt"/>
          </p:nvPr>
        </p:nvSpPr>
        <p:spPr>
          <a:xfrm>
            <a:off x="0" y="6492960"/>
            <a:ext cx="26524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11" type="ftr"/>
          </p:nvPr>
        </p:nvSpPr>
        <p:spPr>
          <a:xfrm>
            <a:off x="3887640" y="6525360"/>
            <a:ext cx="4512240" cy="332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12" type="sldNum"/>
          </p:nvPr>
        </p:nvSpPr>
        <p:spPr>
          <a:xfrm>
            <a:off x="9360360" y="65203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about:blank" TargetMode="External"/><Relationship Id="rId4" Type="http://schemas.openxmlformats.org/officeDocument/2006/relationships/hyperlink" Target="https://github.com/aimldl" TargetMode="External"/><Relationship Id="rId5" Type="http://schemas.openxmlformats.org/officeDocument/2006/relationships/hyperlink" Target="mailto:mrtonnet@gmail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hyperlink" Target="http://playground.tensorflow.org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hyperlink" Target="http://playground.tensorflow.org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ncbi.nlm.nih.gov/pmc/articles/PMC2776484/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hyperlink" Target="http://aishack.in/tutorials/artificial-neurons-mccullochpitts-model/" TargetMode="External"/><Relationship Id="rId6" Type="http://schemas.openxmlformats.org/officeDocument/2006/relationships/image" Target="../media/image14.jpg"/><Relationship Id="rId7" Type="http://schemas.openxmlformats.org/officeDocument/2006/relationships/image" Target="../media/image2.png"/><Relationship Id="rId8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hyperlink" Target="https://towardsdatascience.com/the-mostly-complete-chart-of-neural-networks-explained-3fb6f2367464" TargetMode="External"/><Relationship Id="rId5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hyperlink" Target="https://youtu.be/3JQ3hYko51Y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33.png"/><Relationship Id="rId13" Type="http://schemas.openxmlformats.org/officeDocument/2006/relationships/image" Target="../media/image35.png"/><Relationship Id="rId12" Type="http://schemas.openxmlformats.org/officeDocument/2006/relationships/image" Target="../media/image31.png"/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Relationship Id="rId9" Type="http://schemas.openxmlformats.org/officeDocument/2006/relationships/image" Target="../media/image24.png"/><Relationship Id="rId14" Type="http://schemas.openxmlformats.org/officeDocument/2006/relationships/image" Target="../media/image37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29.png"/><Relationship Id="rId8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Relationship Id="rId4" Type="http://schemas.openxmlformats.org/officeDocument/2006/relationships/hyperlink" Target="https://www.marktechpost.com/2019/06/16/are-self-service-machine-learning-models-the-future-of-ai-integration/" TargetMode="External"/><Relationship Id="rId5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Relationship Id="rId4" Type="http://schemas.openxmlformats.org/officeDocument/2006/relationships/hyperlink" Target="https://www.marktechpost.com/2019/06/16/are-self-service-machine-learning-models-the-future-of-ai-integration/" TargetMode="External"/><Relationship Id="rId5" Type="http://schemas.openxmlformats.org/officeDocument/2006/relationships/image" Target="../media/image4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3.png"/><Relationship Id="rId4" Type="http://schemas.openxmlformats.org/officeDocument/2006/relationships/hyperlink" Target="https://papers.nips.cc/paper/5656-hidden-technical-debt-in-machine-learning-systems.pdf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0" Type="http://schemas.openxmlformats.org/officeDocument/2006/relationships/hyperlink" Target="https://www.kubeflow.org/" TargetMode="External"/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marktechpost.com/2019/06/16/are-self-service-machine-learning-models-the-future-of-ai-integration/" TargetMode="External"/><Relationship Id="rId4" Type="http://schemas.openxmlformats.org/officeDocument/2006/relationships/image" Target="../media/image42.png"/><Relationship Id="rId9" Type="http://schemas.openxmlformats.org/officeDocument/2006/relationships/image" Target="../media/image45.png"/><Relationship Id="rId5" Type="http://schemas.openxmlformats.org/officeDocument/2006/relationships/image" Target="../media/image39.png"/><Relationship Id="rId6" Type="http://schemas.openxmlformats.org/officeDocument/2006/relationships/image" Target="../media/image38.png"/><Relationship Id="rId7" Type="http://schemas.openxmlformats.org/officeDocument/2006/relationships/image" Target="../media/image44.png"/><Relationship Id="rId8" Type="http://schemas.openxmlformats.org/officeDocument/2006/relationships/hyperlink" Target="https://docs.aws.amazon.com/sagemaker/latest/dg/how-it-works-mlconcept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"/>
          <p:cNvSpPr/>
          <p:nvPr/>
        </p:nvSpPr>
        <p:spPr>
          <a:xfrm>
            <a:off x="1487520" y="620640"/>
            <a:ext cx="9216360" cy="77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2360" lvl="0" marL="343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심층 학습</a:t>
            </a: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 소개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360" lvl="0" marL="343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"/>
          <p:cNvSpPr/>
          <p:nvPr/>
        </p:nvSpPr>
        <p:spPr>
          <a:xfrm>
            <a:off x="3634560" y="3645000"/>
            <a:ext cx="4607640" cy="575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김태형, 공학박사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"/>
          <p:cNvSpPr/>
          <p:nvPr/>
        </p:nvSpPr>
        <p:spPr>
          <a:xfrm>
            <a:off x="2834640" y="5652360"/>
            <a:ext cx="6768000" cy="106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2021-01-23 (토)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Zoom 미팅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"/>
          <p:cNvSpPr/>
          <p:nvPr/>
        </p:nvSpPr>
        <p:spPr>
          <a:xfrm>
            <a:off x="3804120" y="4972320"/>
            <a:ext cx="455472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</a:t>
            </a:r>
            <a:r>
              <a:rPr b="1" i="0" lang="en-US" sz="28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github.com/aimldl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"/>
          <p:cNvSpPr/>
          <p:nvPr/>
        </p:nvSpPr>
        <p:spPr>
          <a:xfrm>
            <a:off x="4048920" y="4410360"/>
            <a:ext cx="404424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mrtonnet@gmail.com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"/>
          <p:cNvSpPr txBox="1"/>
          <p:nvPr/>
        </p:nvSpPr>
        <p:spPr>
          <a:xfrm>
            <a:off x="1937520" y="1224000"/>
            <a:ext cx="6918480" cy="24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(base) $ conda create --name keras python=3.8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(base) $ conda info -e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(base) $ conda activate keras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(keras) $ pip3 install tensorflow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(keras) $ python -c "import tensorflow as tf"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(keras) $ pip install keras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(keras) $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"/>
          <p:cNvSpPr txBox="1"/>
          <p:nvPr/>
        </p:nvSpPr>
        <p:spPr>
          <a:xfrm>
            <a:off x="1944000" y="4188600"/>
            <a:ext cx="4896000" cy="20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(keras) $ python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...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&gt;&gt;&gt; from keras.models import Sequential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&gt;&gt;&gt; model = Sequential()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&gt;&gt;&gt; exit()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(keras) $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"/>
          <p:cNvSpPr txBox="1"/>
          <p:nvPr/>
        </p:nvSpPr>
        <p:spPr>
          <a:xfrm>
            <a:off x="1649520" y="327960"/>
            <a:ext cx="5262480" cy="75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Anaconda가 설치된 상태에 Keras 설치하기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"/>
          <p:cNvSpPr txBox="1"/>
          <p:nvPr/>
        </p:nvSpPr>
        <p:spPr>
          <a:xfrm>
            <a:off x="1440000" y="3672000"/>
            <a:ext cx="5262480" cy="752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Keras 설치 여부를 확인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"/>
          <p:cNvSpPr txBox="1"/>
          <p:nvPr/>
        </p:nvSpPr>
        <p:spPr>
          <a:xfrm>
            <a:off x="6840000" y="4029120"/>
            <a:ext cx="4896000" cy="10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(keras) $ python -c ‘from keras.models import Sequential; model = Sequential()’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(keras) $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"/>
          <p:cNvSpPr/>
          <p:nvPr/>
        </p:nvSpPr>
        <p:spPr>
          <a:xfrm>
            <a:off x="278280" y="1989000"/>
            <a:ext cx="3728880" cy="380484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"/>
          <p:cNvSpPr/>
          <p:nvPr/>
        </p:nvSpPr>
        <p:spPr>
          <a:xfrm>
            <a:off x="191520" y="1428840"/>
            <a:ext cx="395964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Artificial Intelligence (AI)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9" name="Google Shape;299;p3"/>
          <p:cNvGrpSpPr/>
          <p:nvPr/>
        </p:nvGrpSpPr>
        <p:grpSpPr>
          <a:xfrm>
            <a:off x="598680" y="2235240"/>
            <a:ext cx="3120480" cy="3198240"/>
            <a:chOff x="598680" y="2235240"/>
            <a:chExt cx="3120480" cy="3198240"/>
          </a:xfrm>
        </p:grpSpPr>
        <p:sp>
          <p:nvSpPr>
            <p:cNvPr id="300" name="Google Shape;300;p3"/>
            <p:cNvSpPr/>
            <p:nvPr/>
          </p:nvSpPr>
          <p:spPr>
            <a:xfrm>
              <a:off x="598680" y="2697840"/>
              <a:ext cx="3048120" cy="2735640"/>
            </a:xfrm>
            <a:prstGeom prst="ellipse">
              <a:avLst/>
            </a:prstGeom>
            <a:noFill/>
            <a:ln cap="flat" cmpd="sng" w="25400">
              <a:solidFill>
                <a:srgbClr val="538C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671040" y="2235240"/>
              <a:ext cx="3048120" cy="394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558ED5"/>
                  </a:solidFill>
                  <a:latin typeface="Arial"/>
                  <a:ea typeface="Arial"/>
                  <a:cs typeface="Arial"/>
                  <a:sym typeface="Arial"/>
                </a:rPr>
                <a:t>Machine Learning (ML)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2" name="Google Shape;302;p3"/>
          <p:cNvGrpSpPr/>
          <p:nvPr/>
        </p:nvGrpSpPr>
        <p:grpSpPr>
          <a:xfrm>
            <a:off x="1055520" y="3280680"/>
            <a:ext cx="2360520" cy="1537560"/>
            <a:chOff x="1055520" y="3280680"/>
            <a:chExt cx="2360520" cy="1537560"/>
          </a:xfrm>
        </p:grpSpPr>
        <p:sp>
          <p:nvSpPr>
            <p:cNvPr id="303" name="Google Shape;303;p3"/>
            <p:cNvSpPr/>
            <p:nvPr/>
          </p:nvSpPr>
          <p:spPr>
            <a:xfrm>
              <a:off x="1659240" y="3810960"/>
              <a:ext cx="820800" cy="1007280"/>
            </a:xfrm>
            <a:prstGeom prst="ellipse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1055520" y="3280680"/>
              <a:ext cx="2360520" cy="36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Deep Learning (DL)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5" name="Google Shape;305;p3"/>
          <p:cNvSpPr/>
          <p:nvPr/>
        </p:nvSpPr>
        <p:spPr>
          <a:xfrm>
            <a:off x="278280" y="200880"/>
            <a:ext cx="89132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p3"/>
          <p:cNvPicPr preferRelativeResize="0"/>
          <p:nvPr/>
        </p:nvPicPr>
        <p:blipFill rotWithShape="1">
          <a:blip r:embed="rId3">
            <a:alphaModFix/>
          </a:blip>
          <a:srcRect b="7349" l="4523" r="15742" t="27550"/>
          <a:stretch/>
        </p:blipFill>
        <p:spPr>
          <a:xfrm>
            <a:off x="4218480" y="1857960"/>
            <a:ext cx="7642800" cy="32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6640" y="-65880"/>
            <a:ext cx="12314880" cy="6923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"/>
          <p:cNvSpPr/>
          <p:nvPr/>
        </p:nvSpPr>
        <p:spPr>
          <a:xfrm>
            <a:off x="278280" y="200880"/>
            <a:ext cx="89132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Machine Learning (ML)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5"/>
          <p:cNvSpPr/>
          <p:nvPr/>
        </p:nvSpPr>
        <p:spPr>
          <a:xfrm>
            <a:off x="278280" y="836640"/>
            <a:ext cx="941760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많은 데이터에서 입출력 관계를 학습하는 컴퓨터 프로그래밍 방식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0" name="Google Shape;320;p5"/>
          <p:cNvGrpSpPr/>
          <p:nvPr/>
        </p:nvGrpSpPr>
        <p:grpSpPr>
          <a:xfrm>
            <a:off x="228960" y="1268640"/>
            <a:ext cx="11652840" cy="5547240"/>
            <a:chOff x="228960" y="1268640"/>
            <a:chExt cx="11652840" cy="5547240"/>
          </a:xfrm>
        </p:grpSpPr>
        <p:pic>
          <p:nvPicPr>
            <p:cNvPr id="321" name="Google Shape;321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5520" y="1887840"/>
              <a:ext cx="10816920" cy="42667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5"/>
            <p:cNvSpPr/>
            <p:nvPr/>
          </p:nvSpPr>
          <p:spPr>
            <a:xfrm>
              <a:off x="1347840" y="3209400"/>
              <a:ext cx="414000" cy="577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X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6698880" y="3288600"/>
              <a:ext cx="470880" cy="5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5934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^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5934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Y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568080" y="126864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입력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11140200" y="274284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목표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5"/>
            <p:cNvSpPr/>
            <p:nvPr/>
          </p:nvSpPr>
          <p:spPr>
            <a:xfrm flipH="1" rot="10800000">
              <a:off x="1771200" y="3498840"/>
              <a:ext cx="1303920" cy="36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sp>
        <p:sp>
          <p:nvSpPr>
            <p:cNvPr id="327" name="Google Shape;327;p5"/>
            <p:cNvSpPr/>
            <p:nvPr/>
          </p:nvSpPr>
          <p:spPr>
            <a:xfrm flipH="1" rot="10800000">
              <a:off x="6054120" y="3549960"/>
              <a:ext cx="644040" cy="1368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sp>
        <p:sp>
          <p:nvSpPr>
            <p:cNvPr id="328" name="Google Shape;328;p5"/>
            <p:cNvSpPr/>
            <p:nvPr/>
          </p:nvSpPr>
          <p:spPr>
            <a:xfrm>
              <a:off x="6495840" y="269244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예측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8726040" y="1311120"/>
              <a:ext cx="74160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출력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11305800" y="3289320"/>
              <a:ext cx="397080" cy="577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Y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1" name="Google Shape;331;p5"/>
            <p:cNvCxnSpPr/>
            <p:nvPr/>
          </p:nvCxnSpPr>
          <p:spPr>
            <a:xfrm>
              <a:off x="7170120" y="3578400"/>
              <a:ext cx="4126680" cy="3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Dot"/>
              <a:round/>
              <a:headEnd len="sm" w="sm" type="none"/>
              <a:tailEnd len="sm" w="sm" type="none"/>
            </a:ln>
          </p:spPr>
        </p:cxnSp>
        <p:cxnSp>
          <p:nvCxnSpPr>
            <p:cNvPr id="332" name="Google Shape;332;p5"/>
            <p:cNvCxnSpPr/>
            <p:nvPr/>
          </p:nvCxnSpPr>
          <p:spPr>
            <a:xfrm flipH="1">
              <a:off x="6758280" y="3592800"/>
              <a:ext cx="2338920" cy="193464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Dot"/>
              <a:round/>
              <a:headEnd len="sm" w="sm" type="none"/>
              <a:tailEnd len="sm" w="sm" type="none"/>
            </a:ln>
          </p:spPr>
        </p:cxnSp>
        <p:sp>
          <p:nvSpPr>
            <p:cNvPr id="333" name="Google Shape;333;p5"/>
            <p:cNvSpPr/>
            <p:nvPr/>
          </p:nvSpPr>
          <p:spPr>
            <a:xfrm rot="10800000">
              <a:off x="2610000" y="1374480"/>
              <a:ext cx="4143240" cy="415188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dashDot"/>
              <a:round/>
              <a:headEnd len="sm" w="sm" type="none"/>
              <a:tailEnd len="med" w="med" type="triangle"/>
            </a:ln>
          </p:spPr>
        </p:sp>
        <p:sp>
          <p:nvSpPr>
            <p:cNvPr id="334" name="Google Shape;334;p5"/>
            <p:cNvSpPr/>
            <p:nvPr/>
          </p:nvSpPr>
          <p:spPr>
            <a:xfrm>
              <a:off x="3075840" y="1834560"/>
              <a:ext cx="2977560" cy="3332160"/>
            </a:xfrm>
            <a:prstGeom prst="rect">
              <a:avLst/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4233960" y="1268640"/>
              <a:ext cx="660960" cy="45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A6A6A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f(X)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228960" y="6489000"/>
              <a:ext cx="3041280" cy="326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sng" cap="none" strike="noStrike">
                  <a:solidFill>
                    <a:srgbClr val="0000FF"/>
                  </a:solidFill>
                  <a:latin typeface="Malgun Gothic"/>
                  <a:ea typeface="Malgun Gothic"/>
                  <a:cs typeface="Malgun Gothic"/>
                  <a:sym typeface="Malgun Gothic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Src: http://playground.tensorflow.org</a:t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7" name="Google Shape;337;p5"/>
          <p:cNvSpPr/>
          <p:nvPr/>
        </p:nvSpPr>
        <p:spPr>
          <a:xfrm>
            <a:off x="1035000" y="6037920"/>
            <a:ext cx="941760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Reminder: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딥러닝</a:t>
            </a: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은 </a:t>
            </a:r>
            <a:r>
              <a:rPr b="1" i="0" lang="en-US" sz="24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머신러닝</a:t>
            </a:r>
            <a:r>
              <a:rPr b="1" i="0" lang="en-US" sz="24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에 포함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040" y="869400"/>
            <a:ext cx="11238840" cy="601524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6"/>
          <p:cNvSpPr/>
          <p:nvPr/>
        </p:nvSpPr>
        <p:spPr>
          <a:xfrm>
            <a:off x="4425840" y="6565680"/>
            <a:ext cx="3041280" cy="326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Src: http://playground.tensorflow.org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"/>
          <p:cNvSpPr/>
          <p:nvPr/>
        </p:nvSpPr>
        <p:spPr>
          <a:xfrm>
            <a:off x="278280" y="200880"/>
            <a:ext cx="1143360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Demo: Binary Classification with Basic Classifier  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/>
          <p:nvPr/>
        </p:nvSpPr>
        <p:spPr>
          <a:xfrm>
            <a:off x="947880" y="144000"/>
            <a:ext cx="10260360" cy="50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Biological Neuron = Brain’s Processing Unit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7"/>
          <p:cNvSpPr/>
          <p:nvPr/>
        </p:nvSpPr>
        <p:spPr>
          <a:xfrm>
            <a:off x="1560600" y="764640"/>
            <a:ext cx="91436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 human brain purportedly contains 100 billion neurons and 10× more glial cells.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7"/>
          <p:cNvSpPr/>
          <p:nvPr/>
        </p:nvSpPr>
        <p:spPr>
          <a:xfrm>
            <a:off x="3215520" y="6611760"/>
            <a:ext cx="5616360" cy="2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Human Brain in Numbers: A Linearly Scaled-up Primate Brain</a:t>
            </a:r>
            <a:r>
              <a:rPr b="0" i="0" lang="en-US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, Suzana Herculano-Houzel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4" name="Google Shape;35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20" y="2226600"/>
            <a:ext cx="1801440" cy="284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5" name="Google Shape;355;p7"/>
          <p:cNvGrpSpPr/>
          <p:nvPr/>
        </p:nvGrpSpPr>
        <p:grpSpPr>
          <a:xfrm>
            <a:off x="2038680" y="2226960"/>
            <a:ext cx="4640400" cy="2572200"/>
            <a:chOff x="2038680" y="2226960"/>
            <a:chExt cx="4640400" cy="2572200"/>
          </a:xfrm>
        </p:grpSpPr>
        <p:pic>
          <p:nvPicPr>
            <p:cNvPr id="356" name="Google Shape;356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08160" y="2226960"/>
              <a:ext cx="4012560" cy="2572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7" name="Google Shape;357;p7"/>
            <p:cNvSpPr/>
            <p:nvPr/>
          </p:nvSpPr>
          <p:spPr>
            <a:xfrm>
              <a:off x="4202280" y="3473280"/>
              <a:ext cx="1290600" cy="302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Cell body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7"/>
            <p:cNvSpPr/>
            <p:nvPr/>
          </p:nvSpPr>
          <p:spPr>
            <a:xfrm>
              <a:off x="3225240" y="3124080"/>
              <a:ext cx="1290600" cy="302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Axon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7"/>
            <p:cNvSpPr/>
            <p:nvPr/>
          </p:nvSpPr>
          <p:spPr>
            <a:xfrm>
              <a:off x="2038680" y="2914920"/>
              <a:ext cx="1290600" cy="302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Synapses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388480" y="3564000"/>
              <a:ext cx="1290600" cy="302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Dendrites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61" name="Google Shape;36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02720" y="2715840"/>
            <a:ext cx="3524400" cy="18428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2" name="Google Shape;362;p7"/>
          <p:cNvGrpSpPr/>
          <p:nvPr/>
        </p:nvGrpSpPr>
        <p:grpSpPr>
          <a:xfrm>
            <a:off x="3888000" y="3704400"/>
            <a:ext cx="6665400" cy="2000880"/>
            <a:chOff x="3888000" y="3704400"/>
            <a:chExt cx="6665400" cy="2000880"/>
          </a:xfrm>
        </p:grpSpPr>
        <p:sp>
          <p:nvSpPr>
            <p:cNvPr id="363" name="Google Shape;363;p7"/>
            <p:cNvSpPr/>
            <p:nvPr/>
          </p:nvSpPr>
          <p:spPr>
            <a:xfrm>
              <a:off x="3888000" y="5340600"/>
              <a:ext cx="6665400" cy="364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Biological neuron inspired </a:t>
              </a:r>
              <a:r>
                <a:rPr b="0" i="0" lang="en-US" sz="1800" u="none" cap="none" strike="noStrik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the birth of artificial neuron.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6381360" y="3704400"/>
              <a:ext cx="915120" cy="36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cap="flat" cmpd="sng" w="381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"/>
          <p:cNvSpPr/>
          <p:nvPr/>
        </p:nvSpPr>
        <p:spPr>
          <a:xfrm>
            <a:off x="767520" y="746280"/>
            <a:ext cx="4464000" cy="50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McCulloch-Pitts Model (1943)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1" name="Google Shape;3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400" y="1412640"/>
            <a:ext cx="4128120" cy="2160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6280" y="4002840"/>
            <a:ext cx="2022120" cy="249624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8"/>
          <p:cNvSpPr/>
          <p:nvPr/>
        </p:nvSpPr>
        <p:spPr>
          <a:xfrm>
            <a:off x="1166400" y="3645000"/>
            <a:ext cx="3816000" cy="2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First artificial neurons: The McCulloch-Pitts model,</a:t>
            </a:r>
            <a:r>
              <a:rPr b="0" i="0" lang="en-US" sz="1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AI Shack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403200" y="6528960"/>
            <a:ext cx="4897080" cy="30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Threshold logic with inhibitory/excitatory input or -1/+1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5" name="Google Shape;375;p8"/>
          <p:cNvGrpSpPr/>
          <p:nvPr/>
        </p:nvGrpSpPr>
        <p:grpSpPr>
          <a:xfrm>
            <a:off x="5301360" y="820080"/>
            <a:ext cx="6729480" cy="4784040"/>
            <a:chOff x="5301360" y="820080"/>
            <a:chExt cx="6729480" cy="4784040"/>
          </a:xfrm>
        </p:grpSpPr>
        <p:pic>
          <p:nvPicPr>
            <p:cNvPr id="376" name="Google Shape;376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537520" y="2549520"/>
              <a:ext cx="2499840" cy="21164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" name="Google Shape;377;p8"/>
            <p:cNvSpPr/>
            <p:nvPr/>
          </p:nvSpPr>
          <p:spPr>
            <a:xfrm>
              <a:off x="5301360" y="4655520"/>
              <a:ext cx="3384000" cy="54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Source: Arvin Calspan Advanced Technology Center;</a:t>
              </a:r>
              <a:b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0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Hecht-Nielsen, R. Neurocomputing (Reading, Mass.: Addison-Wesley, 1990)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5807880" y="1313640"/>
              <a:ext cx="6050520" cy="1307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The mark 1 Perceptron was invented by Frank Rosenblatt </a:t>
              </a:r>
              <a:b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6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at the Cornell Aeronautical Laboratory.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The perceptron is a linear binary classifier to classify simple shapes correctly with 20x20 photocell image from a camera.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9" name="Google Shape;379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431560" y="2539800"/>
              <a:ext cx="3426480" cy="20192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0" name="Google Shape;380;p8"/>
            <p:cNvSpPr/>
            <p:nvPr/>
          </p:nvSpPr>
          <p:spPr>
            <a:xfrm>
              <a:off x="8646840" y="4671360"/>
              <a:ext cx="3384000" cy="39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Perceptrons, Marvin Minsky and Seymour Papert (1969)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5756040" y="5300640"/>
              <a:ext cx="6077520" cy="303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Perceptron could not be trained to recognize many classes of patterns.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5841720" y="820080"/>
              <a:ext cx="5078520" cy="503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1F497D"/>
                  </a:solidFill>
                  <a:latin typeface="Arial"/>
                  <a:ea typeface="Arial"/>
                  <a:cs typeface="Arial"/>
                  <a:sym typeface="Arial"/>
                </a:rPr>
                <a:t>(Single-Layer) Perceptron (1958)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83" name="Google Shape;383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720" y="4217040"/>
            <a:ext cx="3185640" cy="1665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9"/>
          <p:cNvSpPr/>
          <p:nvPr/>
        </p:nvSpPr>
        <p:spPr>
          <a:xfrm>
            <a:off x="8904240" y="2925000"/>
            <a:ext cx="9143640" cy="50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2027520" y="301320"/>
            <a:ext cx="8136720" cy="50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Multi-Layer Perceptron (MLP) (1967)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1" name="Google Shape;39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08959" y="1227960"/>
            <a:ext cx="3581640" cy="220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88959" y="3740760"/>
            <a:ext cx="2878200" cy="55368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9"/>
          <p:cNvSpPr/>
          <p:nvPr/>
        </p:nvSpPr>
        <p:spPr>
          <a:xfrm>
            <a:off x="126000" y="5753160"/>
            <a:ext cx="7074000" cy="72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 activation function adds non-linearity.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Traditionally, sigmoid and tansig activation functions were popular.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ReLU activation function lead the contemporary breakthrough in deep learning.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" name="Google Shape;39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5880" y="1219320"/>
            <a:ext cx="6070680" cy="47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3840" y="1409760"/>
            <a:ext cx="5537160" cy="4140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1080" y="1640520"/>
            <a:ext cx="6800760" cy="510048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0"/>
          <p:cNvSpPr/>
          <p:nvPr/>
        </p:nvSpPr>
        <p:spPr>
          <a:xfrm>
            <a:off x="1127520" y="44640"/>
            <a:ext cx="10332360" cy="50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Backpropagation (Training Algorithm) (1974)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-11520" y="2773440"/>
            <a:ext cx="2520000" cy="21564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1225800" y="2174040"/>
            <a:ext cx="331200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190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sp>
      <p:sp>
        <p:nvSpPr>
          <p:cNvPr id="405" name="Google Shape;405;p10"/>
          <p:cNvSpPr/>
          <p:nvPr/>
        </p:nvSpPr>
        <p:spPr>
          <a:xfrm>
            <a:off x="1585800" y="1701720"/>
            <a:ext cx="2808000" cy="395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Forward Computation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1297800" y="6310440"/>
            <a:ext cx="3312000" cy="3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28425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sp>
      <p:sp>
        <p:nvSpPr>
          <p:cNvPr id="407" name="Google Shape;407;p10"/>
          <p:cNvSpPr/>
          <p:nvPr/>
        </p:nvSpPr>
        <p:spPr>
          <a:xfrm>
            <a:off x="1729800" y="6310440"/>
            <a:ext cx="2590200" cy="395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Backpropagation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8328240" y="6505560"/>
            <a:ext cx="1137240" cy="30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[wikipedia]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1347120" y="720000"/>
            <a:ext cx="9648720" cy="8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P. J. Werbos, “Beyond Regression: New Tools for Prediction and Analysis in the Behavioral Sciences," Foundations, vol. PhD thesis, no. January 1974, reprinted in The Roots of Backpropagation: From Ordered Derivatives to Neural Networks and Political Forecasting, Wiley, IEEE Press.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0" name="Google Shape;41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680" y="2349360"/>
            <a:ext cx="4749840" cy="3746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" y="1340640"/>
            <a:ext cx="5656320" cy="47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1"/>
          <p:cNvSpPr/>
          <p:nvPr/>
        </p:nvSpPr>
        <p:spPr>
          <a:xfrm>
            <a:off x="3496320" y="6478080"/>
            <a:ext cx="72723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[The mostly complete chart of Neural Networks, explained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Andrew Tchircoff]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7" name="Google Shape;41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2880" y="1641600"/>
            <a:ext cx="6414120" cy="418716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1"/>
          <p:cNvSpPr/>
          <p:nvPr/>
        </p:nvSpPr>
        <p:spPr>
          <a:xfrm>
            <a:off x="7055280" y="1976040"/>
            <a:ext cx="792720" cy="1116360"/>
          </a:xfrm>
          <a:prstGeom prst="rect">
            <a:avLst/>
          </a:prstGeom>
          <a:noFill/>
          <a:ln cap="flat" cmpd="sng" w="126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6752520" y="3096720"/>
            <a:ext cx="1439640" cy="302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Fully Connected Network (FCN)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2391840" y="1998360"/>
            <a:ext cx="1101240" cy="1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Multilayer Perceptron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1487520" y="44640"/>
            <a:ext cx="10332360" cy="50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Various Types of Neural Networks 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3360" y="1268640"/>
            <a:ext cx="6986520" cy="43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2"/>
          <p:cNvSpPr/>
          <p:nvPr/>
        </p:nvSpPr>
        <p:spPr>
          <a:xfrm>
            <a:off x="1523880" y="188640"/>
            <a:ext cx="9143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Brain is a Network of Biological Neurons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4188240" y="5373360"/>
            <a:ext cx="4571640" cy="2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https://iq.intel.co.uk/cognitive-computing-vs-artificial-intelligence/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3215520" y="5805360"/>
            <a:ext cx="5904360" cy="9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Biological   vs.    Artificial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Neural Network   Neural Network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3"/>
          <p:cNvSpPr/>
          <p:nvPr/>
        </p:nvSpPr>
        <p:spPr>
          <a:xfrm>
            <a:off x="3143520" y="1343880"/>
            <a:ext cx="8352360" cy="719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2351520" y="1999800"/>
            <a:ext cx="8280360" cy="380484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3791880" y="1440000"/>
            <a:ext cx="5328000" cy="4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Artificial Intelligence (AI), 인공지능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8" name="Google Shape;438;p13"/>
          <p:cNvGrpSpPr/>
          <p:nvPr/>
        </p:nvGrpSpPr>
        <p:grpSpPr>
          <a:xfrm>
            <a:off x="3791880" y="2246040"/>
            <a:ext cx="5626800" cy="3198600"/>
            <a:chOff x="3791880" y="2246040"/>
            <a:chExt cx="5626800" cy="3198600"/>
          </a:xfrm>
        </p:grpSpPr>
        <p:sp>
          <p:nvSpPr>
            <p:cNvPr id="439" name="Google Shape;439;p13"/>
            <p:cNvSpPr/>
            <p:nvPr/>
          </p:nvSpPr>
          <p:spPr>
            <a:xfrm>
              <a:off x="3874680" y="2709000"/>
              <a:ext cx="5328000" cy="2735640"/>
            </a:xfrm>
            <a:prstGeom prst="ellipse">
              <a:avLst/>
            </a:prstGeom>
            <a:noFill/>
            <a:ln cap="flat" cmpd="sng" w="25400">
              <a:solidFill>
                <a:srgbClr val="538C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3"/>
            <p:cNvSpPr/>
            <p:nvPr/>
          </p:nvSpPr>
          <p:spPr>
            <a:xfrm>
              <a:off x="3791880" y="2246040"/>
              <a:ext cx="5626800" cy="394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558ED5"/>
                  </a:solidFill>
                  <a:latin typeface="Arial"/>
                  <a:ea typeface="Arial"/>
                  <a:cs typeface="Arial"/>
                  <a:sym typeface="Arial"/>
                </a:rPr>
                <a:t>Machine Learning (ML), 머신 러닝/기계 학습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1" name="Google Shape;441;p13"/>
          <p:cNvGrpSpPr/>
          <p:nvPr/>
        </p:nvGrpSpPr>
        <p:grpSpPr>
          <a:xfrm>
            <a:off x="4511880" y="3291480"/>
            <a:ext cx="4453920" cy="1537920"/>
            <a:chOff x="4511880" y="3291480"/>
            <a:chExt cx="4453920" cy="1537920"/>
          </a:xfrm>
        </p:grpSpPr>
        <p:sp>
          <p:nvSpPr>
            <p:cNvPr id="442" name="Google Shape;442;p13"/>
            <p:cNvSpPr/>
            <p:nvPr/>
          </p:nvSpPr>
          <p:spPr>
            <a:xfrm>
              <a:off x="6095880" y="3822120"/>
              <a:ext cx="1007280" cy="1007280"/>
            </a:xfrm>
            <a:prstGeom prst="ellipse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3"/>
            <p:cNvSpPr/>
            <p:nvPr/>
          </p:nvSpPr>
          <p:spPr>
            <a:xfrm>
              <a:off x="4511880" y="3291480"/>
              <a:ext cx="4453920" cy="36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Deep Learning (DL), 딥러닝/심층 학습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4" name="Google Shape;444;p13"/>
          <p:cNvSpPr/>
          <p:nvPr/>
        </p:nvSpPr>
        <p:spPr>
          <a:xfrm>
            <a:off x="2207520" y="6005880"/>
            <a:ext cx="907236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딥러닝은 </a:t>
            </a:r>
            <a:r>
              <a:rPr b="1" i="0" lang="en-US" sz="18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머신러닝 알고리즘 중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인공신경망 (Artificial Neural Networks)을 쓰는 방식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머신러닝이라고 하면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딥러닝을 포함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278280" y="200880"/>
            <a:ext cx="81932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2360" lvl="0" marL="343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인공지능, </a:t>
            </a:r>
            <a:r>
              <a:rPr b="1" i="0" lang="en-US" sz="3600" u="none" cap="none" strike="noStrike">
                <a:solidFill>
                  <a:srgbClr val="558ED5"/>
                </a:solidFill>
                <a:latin typeface="Arial"/>
                <a:ea typeface="Arial"/>
                <a:cs typeface="Arial"/>
                <a:sym typeface="Arial"/>
              </a:rPr>
              <a:t>기계 학습</a:t>
            </a: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심층 학습</a:t>
            </a: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 소개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4"/>
          <p:cNvSpPr/>
          <p:nvPr/>
        </p:nvSpPr>
        <p:spPr>
          <a:xfrm>
            <a:off x="1411560" y="16560"/>
            <a:ext cx="9143640" cy="71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Neural Network 3D Simulation [2:44]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1" name="Google Shape;4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1520" y="736560"/>
            <a:ext cx="8136720" cy="614844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4"/>
          <p:cNvSpPr/>
          <p:nvPr/>
        </p:nvSpPr>
        <p:spPr>
          <a:xfrm>
            <a:off x="4183200" y="6508080"/>
            <a:ext cx="3380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https://youtu.be/3JQ3hYko51Y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5"/>
          <p:cNvSpPr/>
          <p:nvPr/>
        </p:nvSpPr>
        <p:spPr>
          <a:xfrm>
            <a:off x="2459520" y="2277000"/>
            <a:ext cx="7272000" cy="136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58ED5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4" name="Google Shape;464;p16"/>
          <p:cNvGrpSpPr/>
          <p:nvPr/>
        </p:nvGrpSpPr>
        <p:grpSpPr>
          <a:xfrm>
            <a:off x="479520" y="1057680"/>
            <a:ext cx="10872720" cy="5744520"/>
            <a:chOff x="479520" y="1057680"/>
            <a:chExt cx="10872720" cy="5744520"/>
          </a:xfrm>
        </p:grpSpPr>
        <p:grpSp>
          <p:nvGrpSpPr>
            <p:cNvPr id="465" name="Google Shape;465;p16"/>
            <p:cNvGrpSpPr/>
            <p:nvPr/>
          </p:nvGrpSpPr>
          <p:grpSpPr>
            <a:xfrm>
              <a:off x="2426220" y="4332420"/>
              <a:ext cx="3981960" cy="1236060"/>
              <a:chOff x="2426220" y="4332420"/>
              <a:chExt cx="3981960" cy="1236060"/>
            </a:xfrm>
          </p:grpSpPr>
          <p:sp>
            <p:nvSpPr>
              <p:cNvPr id="466" name="Google Shape;466;p16"/>
              <p:cNvSpPr/>
              <p:nvPr/>
            </p:nvSpPr>
            <p:spPr>
              <a:xfrm rot="-5400000">
                <a:off x="4240440" y="2518200"/>
                <a:ext cx="353520" cy="3981960"/>
              </a:xfrm>
              <a:prstGeom prst="leftBrace">
                <a:avLst>
                  <a:gd fmla="val 8333" name="adj1"/>
                  <a:gd fmla="val 50000" name="adj2"/>
                </a:avLst>
              </a:prstGeom>
              <a:noFill/>
              <a:ln cap="flat" cmpd="sng" w="9525">
                <a:solidFill>
                  <a:srgbClr val="538C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16"/>
              <p:cNvSpPr/>
              <p:nvPr/>
            </p:nvSpPr>
            <p:spPr>
              <a:xfrm>
                <a:off x="3399120" y="4929480"/>
                <a:ext cx="2201760" cy="63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80808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컴퓨터 및 소프트웨어</a:t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80808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관련 이공계 학과</a:t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8" name="Google Shape;468;p16"/>
            <p:cNvGrpSpPr/>
            <p:nvPr/>
          </p:nvGrpSpPr>
          <p:grpSpPr>
            <a:xfrm>
              <a:off x="3337560" y="5748660"/>
              <a:ext cx="1781280" cy="1053540"/>
              <a:chOff x="3337560" y="5748660"/>
              <a:chExt cx="1781280" cy="1053540"/>
            </a:xfrm>
          </p:grpSpPr>
          <p:sp>
            <p:nvSpPr>
              <p:cNvPr id="469" name="Google Shape;469;p16"/>
              <p:cNvSpPr/>
              <p:nvPr/>
            </p:nvSpPr>
            <p:spPr>
              <a:xfrm rot="-5400000">
                <a:off x="3950280" y="5349960"/>
                <a:ext cx="353520" cy="1150920"/>
              </a:xfrm>
              <a:prstGeom prst="leftBrace">
                <a:avLst>
                  <a:gd fmla="val 8333" name="adj1"/>
                  <a:gd fmla="val 50000" name="adj2"/>
                </a:avLst>
              </a:prstGeom>
              <a:noFill/>
              <a:ln cap="flat" cmpd="sng" w="9525">
                <a:solidFill>
                  <a:srgbClr val="538C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16"/>
              <p:cNvSpPr/>
              <p:nvPr/>
            </p:nvSpPr>
            <p:spPr>
              <a:xfrm>
                <a:off x="3337560" y="6163200"/>
                <a:ext cx="1781280" cy="63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80808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수학, 통계 등</a:t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80808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관련 이공계 학과</a:t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1" name="Google Shape;471;p16"/>
            <p:cNvGrpSpPr/>
            <p:nvPr/>
          </p:nvGrpSpPr>
          <p:grpSpPr>
            <a:xfrm>
              <a:off x="655560" y="4421160"/>
              <a:ext cx="1681920" cy="1081080"/>
              <a:chOff x="655560" y="4421160"/>
              <a:chExt cx="1681920" cy="1081080"/>
            </a:xfrm>
          </p:grpSpPr>
          <p:sp>
            <p:nvSpPr>
              <p:cNvPr id="472" name="Google Shape;472;p16"/>
              <p:cNvSpPr/>
              <p:nvPr/>
            </p:nvSpPr>
            <p:spPr>
              <a:xfrm rot="-5400000">
                <a:off x="1364040" y="3712680"/>
                <a:ext cx="264960" cy="1681920"/>
              </a:xfrm>
              <a:prstGeom prst="leftBrace">
                <a:avLst>
                  <a:gd fmla="val 8333" name="adj1"/>
                  <a:gd fmla="val 50000" name="adj2"/>
                </a:avLst>
              </a:prstGeom>
              <a:noFill/>
              <a:ln cap="flat" cmpd="sng" w="9525">
                <a:solidFill>
                  <a:srgbClr val="538CD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16"/>
              <p:cNvSpPr/>
              <p:nvPr/>
            </p:nvSpPr>
            <p:spPr>
              <a:xfrm>
                <a:off x="880560" y="4863240"/>
                <a:ext cx="1296720" cy="63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80808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관련</a:t>
                </a:r>
                <a:b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0" i="0" lang="en-US" sz="1800" u="none" cap="none" strike="noStrike">
                    <a:solidFill>
                      <a:srgbClr val="80808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이공계 학과</a:t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74" name="Google Shape;474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9520" y="1057680"/>
              <a:ext cx="10872720" cy="31327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16"/>
            <p:cNvSpPr/>
            <p:nvPr/>
          </p:nvSpPr>
          <p:spPr>
            <a:xfrm>
              <a:off x="656280" y="2210400"/>
              <a:ext cx="2566080" cy="6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1F497D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석/박사 이상 관련</a:t>
              </a:r>
              <a:b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800" u="none" cap="none" strike="noStrike">
                  <a:solidFill>
                    <a:srgbClr val="1F497D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연구 경험자 선호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6" name="Google Shape;476;p16"/>
          <p:cNvSpPr/>
          <p:nvPr/>
        </p:nvSpPr>
        <p:spPr>
          <a:xfrm>
            <a:off x="2279520" y="188640"/>
            <a:ext cx="8712720" cy="71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채용 사이트 분석 내용 요약 – 관련 전공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7" name="Google Shape;47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8600" y="1036800"/>
            <a:ext cx="1888560" cy="97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8080" y="2227320"/>
            <a:ext cx="993240" cy="98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6360" y="2156040"/>
            <a:ext cx="1397880" cy="840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6840" y="3022560"/>
            <a:ext cx="959760" cy="593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22560" y="2818080"/>
            <a:ext cx="1355040" cy="774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36800" y="3546720"/>
            <a:ext cx="1402920" cy="80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6160" y="3532320"/>
            <a:ext cx="1855440" cy="86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03720" y="3494160"/>
            <a:ext cx="1445760" cy="784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946760" y="3675240"/>
            <a:ext cx="812160" cy="622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89600" y="3584880"/>
            <a:ext cx="1126800" cy="759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37240" y="3060720"/>
            <a:ext cx="588600" cy="598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640" y="980640"/>
            <a:ext cx="10266480" cy="335196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7"/>
          <p:cNvSpPr/>
          <p:nvPr/>
        </p:nvSpPr>
        <p:spPr>
          <a:xfrm>
            <a:off x="278280" y="200880"/>
            <a:ext cx="11145960" cy="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간략화된 머신 러닝 프로젝트 절차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5" name="Google Shape;495;p17"/>
          <p:cNvGrpSpPr/>
          <p:nvPr/>
        </p:nvGrpSpPr>
        <p:grpSpPr>
          <a:xfrm>
            <a:off x="2207520" y="4437000"/>
            <a:ext cx="8568720" cy="2241000"/>
            <a:chOff x="2207520" y="4437000"/>
            <a:chExt cx="8568720" cy="2241000"/>
          </a:xfrm>
        </p:grpSpPr>
        <p:sp>
          <p:nvSpPr>
            <p:cNvPr id="496" name="Google Shape;496;p17"/>
            <p:cNvSpPr/>
            <p:nvPr/>
          </p:nvSpPr>
          <p:spPr>
            <a:xfrm>
              <a:off x="3853800" y="6385680"/>
              <a:ext cx="5664960" cy="292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이미지 출처: </a:t>
              </a:r>
              <a:r>
                <a:rPr b="0" i="0" lang="en-US" sz="1100" u="sng" cap="none" strike="noStrike">
                  <a:solidFill>
                    <a:srgbClr val="0000FF"/>
                  </a:solidFill>
                  <a:latin typeface="Malgun Gothic"/>
                  <a:ea typeface="Malgun Gothic"/>
                  <a:cs typeface="Malgun Gothic"/>
                  <a:sym typeface="Malgun Gothic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Are Self-Service Machine Learning Models the Future of AI Integration?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17"/>
            <p:cNvSpPr/>
            <p:nvPr/>
          </p:nvSpPr>
          <p:spPr>
            <a:xfrm>
              <a:off x="2747880" y="4437000"/>
              <a:ext cx="6012000" cy="516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머신 러닝 모델 개발 과정</a:t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8" name="Google Shape;498;p17"/>
            <p:cNvPicPr preferRelativeResize="0"/>
            <p:nvPr/>
          </p:nvPicPr>
          <p:blipFill rotWithShape="1">
            <a:blip r:embed="rId5">
              <a:alphaModFix/>
            </a:blip>
            <a:srcRect b="0" l="0" r="0" t="45902"/>
            <a:stretch/>
          </p:blipFill>
          <p:spPr>
            <a:xfrm>
              <a:off x="2207520" y="5128560"/>
              <a:ext cx="8568720" cy="776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9" name="Google Shape;499;p17"/>
            <p:cNvSpPr/>
            <p:nvPr/>
          </p:nvSpPr>
          <p:spPr>
            <a:xfrm>
              <a:off x="2228760" y="5171760"/>
              <a:ext cx="3139920" cy="714240"/>
            </a:xfrm>
            <a:prstGeom prst="rect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7"/>
            <p:cNvSpPr/>
            <p:nvPr/>
          </p:nvSpPr>
          <p:spPr>
            <a:xfrm>
              <a:off x="5467320" y="5172120"/>
              <a:ext cx="5295600" cy="713880"/>
            </a:xfrm>
            <a:prstGeom prst="rect">
              <a:avLst/>
            </a:prstGeom>
            <a:noFill/>
            <a:ln cap="flat" cmpd="sng" w="25400">
              <a:solidFill>
                <a:srgbClr val="538C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17"/>
            <p:cNvSpPr/>
            <p:nvPr/>
          </p:nvSpPr>
          <p:spPr>
            <a:xfrm>
              <a:off x="3152160" y="5873400"/>
              <a:ext cx="1594080" cy="364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Data Pipeline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17"/>
            <p:cNvSpPr/>
            <p:nvPr/>
          </p:nvSpPr>
          <p:spPr>
            <a:xfrm>
              <a:off x="6556680" y="5895000"/>
              <a:ext cx="3168000" cy="364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558ED5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Machine Learning Pipeline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gc556626d4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640" y="980640"/>
            <a:ext cx="10266481" cy="335196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gc556626d4a_0_0"/>
          <p:cNvSpPr/>
          <p:nvPr/>
        </p:nvSpPr>
        <p:spPr>
          <a:xfrm>
            <a:off x="278280" y="200880"/>
            <a:ext cx="111459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간략화된 머신 러닝 프로젝트 절차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0" name="Google Shape;510;gc556626d4a_0_0"/>
          <p:cNvGrpSpPr/>
          <p:nvPr/>
        </p:nvGrpSpPr>
        <p:grpSpPr>
          <a:xfrm>
            <a:off x="2207520" y="4437000"/>
            <a:ext cx="8568719" cy="2240880"/>
            <a:chOff x="2207520" y="4437000"/>
            <a:chExt cx="8568719" cy="2240880"/>
          </a:xfrm>
        </p:grpSpPr>
        <p:sp>
          <p:nvSpPr>
            <p:cNvPr id="511" name="Google Shape;511;gc556626d4a_0_0"/>
            <p:cNvSpPr/>
            <p:nvPr/>
          </p:nvSpPr>
          <p:spPr>
            <a:xfrm>
              <a:off x="3853800" y="6385680"/>
              <a:ext cx="5664900" cy="29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이미지 출처: </a:t>
              </a:r>
              <a:r>
                <a:rPr b="0" i="0" lang="en-US" sz="1100" u="sng" cap="none" strike="noStrike">
                  <a:solidFill>
                    <a:srgbClr val="0000FF"/>
                  </a:solidFill>
                  <a:latin typeface="Malgun Gothic"/>
                  <a:ea typeface="Malgun Gothic"/>
                  <a:cs typeface="Malgun Gothic"/>
                  <a:sym typeface="Malgun Gothic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Are Self-Service Machine Learning Models the Future of AI Integration?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gc556626d4a_0_0"/>
            <p:cNvSpPr/>
            <p:nvPr/>
          </p:nvSpPr>
          <p:spPr>
            <a:xfrm>
              <a:off x="2747880" y="4437000"/>
              <a:ext cx="6012000" cy="5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머신 러닝 모델 개발 과정</a:t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13" name="Google Shape;513;gc556626d4a_0_0"/>
            <p:cNvPicPr preferRelativeResize="0"/>
            <p:nvPr/>
          </p:nvPicPr>
          <p:blipFill rotWithShape="1">
            <a:blip r:embed="rId5">
              <a:alphaModFix/>
            </a:blip>
            <a:srcRect b="0" l="0" r="0" t="45902"/>
            <a:stretch/>
          </p:blipFill>
          <p:spPr>
            <a:xfrm>
              <a:off x="2207520" y="5128560"/>
              <a:ext cx="8568719" cy="776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gc556626d4a_0_0"/>
            <p:cNvSpPr/>
            <p:nvPr/>
          </p:nvSpPr>
          <p:spPr>
            <a:xfrm>
              <a:off x="2228760" y="5171760"/>
              <a:ext cx="3139800" cy="714300"/>
            </a:xfrm>
            <a:prstGeom prst="rect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gc556626d4a_0_0"/>
            <p:cNvSpPr/>
            <p:nvPr/>
          </p:nvSpPr>
          <p:spPr>
            <a:xfrm>
              <a:off x="5467320" y="5172120"/>
              <a:ext cx="5295600" cy="714000"/>
            </a:xfrm>
            <a:prstGeom prst="rect">
              <a:avLst/>
            </a:prstGeom>
            <a:noFill/>
            <a:ln cap="flat" cmpd="sng" w="25400">
              <a:solidFill>
                <a:srgbClr val="538C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gc556626d4a_0_0"/>
            <p:cNvSpPr/>
            <p:nvPr/>
          </p:nvSpPr>
          <p:spPr>
            <a:xfrm>
              <a:off x="3152160" y="5873400"/>
              <a:ext cx="1594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Data Pipeline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gc556626d4a_0_0"/>
            <p:cNvSpPr/>
            <p:nvPr/>
          </p:nvSpPr>
          <p:spPr>
            <a:xfrm>
              <a:off x="6556680" y="5895000"/>
              <a:ext cx="31680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558ED5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Machine Learning Pipeline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8" name="Google Shape;518;gc556626d4a_0_0"/>
          <p:cNvSpPr txBox="1"/>
          <p:nvPr/>
        </p:nvSpPr>
        <p:spPr>
          <a:xfrm>
            <a:off x="14046075" y="3066925"/>
            <a:ext cx="2598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AutoML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Kubeflow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Tensorflow Extended (TFX)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Amazon SageMaker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H2O.io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DataRobot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DataIku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c556626d4a_0_0"/>
          <p:cNvSpPr txBox="1"/>
          <p:nvPr/>
        </p:nvSpPr>
        <p:spPr>
          <a:xfrm>
            <a:off x="2118425" y="3599825"/>
            <a:ext cx="29775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gc556626d4a_0_0"/>
          <p:cNvSpPr txBox="1"/>
          <p:nvPr/>
        </p:nvSpPr>
        <p:spPr>
          <a:xfrm>
            <a:off x="2444325" y="3599825"/>
            <a:ext cx="887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gc556626d4a_0_0"/>
          <p:cNvSpPr txBox="1"/>
          <p:nvPr/>
        </p:nvSpPr>
        <p:spPr>
          <a:xfrm>
            <a:off x="749925" y="4043075"/>
            <a:ext cx="62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8"/>
          <p:cNvSpPr/>
          <p:nvPr/>
        </p:nvSpPr>
        <p:spPr>
          <a:xfrm>
            <a:off x="278280" y="200880"/>
            <a:ext cx="11145960" cy="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머신 러닝 시스템의 숨겨진 기술적 빚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7" name="Google Shape;5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080" y="1813320"/>
            <a:ext cx="11855160" cy="39438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18"/>
          <p:cNvSpPr/>
          <p:nvPr/>
        </p:nvSpPr>
        <p:spPr>
          <a:xfrm>
            <a:off x="4221000" y="5949360"/>
            <a:ext cx="369720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Hidden Technical Debt in Machine Learning Systems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8"/>
          <p:cNvSpPr/>
          <p:nvPr/>
        </p:nvSpPr>
        <p:spPr>
          <a:xfrm>
            <a:off x="4843800" y="3885840"/>
            <a:ext cx="633960" cy="487800"/>
          </a:xfrm>
          <a:prstGeom prst="rect">
            <a:avLst/>
          </a:prstGeom>
          <a:noFill/>
          <a:ln cap="flat" cmpd="sng" w="76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8"/>
          <p:cNvSpPr/>
          <p:nvPr/>
        </p:nvSpPr>
        <p:spPr>
          <a:xfrm>
            <a:off x="1631520" y="1026000"/>
            <a:ext cx="9674280" cy="45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808080"/>
                </a:solidFill>
                <a:latin typeface="Malgun Gothic"/>
                <a:ea typeface="Malgun Gothic"/>
                <a:cs typeface="Malgun Gothic"/>
                <a:sym typeface="Malgun Gothic"/>
              </a:rPr>
              <a:t>Toy Problem &lt; PoC Problem &lt; PoC System &lt;&lt; Production System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9880" y="4269240"/>
            <a:ext cx="5760360" cy="2588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9"/>
          <p:cNvSpPr/>
          <p:nvPr/>
        </p:nvSpPr>
        <p:spPr>
          <a:xfrm>
            <a:off x="191520" y="1276920"/>
            <a:ext cx="5222880" cy="3740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MLOps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Containerization   </a:t>
            </a:r>
            <a:r>
              <a:rPr b="0" i="0" lang="en-US" sz="1600" u="none" cap="none" strike="noStrike">
                <a:solidFill>
                  <a:srgbClr val="808080"/>
                </a:solidFill>
                <a:latin typeface="Gulim"/>
                <a:ea typeface="Gulim"/>
                <a:cs typeface="Gulim"/>
                <a:sym typeface="Gulim"/>
              </a:rPr>
              <a:t>Docker, Kubernetes, Kubeflow 등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Cloud offerings    </a:t>
            </a:r>
            <a:r>
              <a:rPr b="0" i="0" lang="en-US" sz="1600" u="none" cap="none" strike="noStrike">
                <a:solidFill>
                  <a:srgbClr val="808080"/>
                </a:solidFill>
                <a:latin typeface="Gulim"/>
                <a:ea typeface="Gulim"/>
                <a:cs typeface="Gulim"/>
                <a:sym typeface="Gulim"/>
              </a:rPr>
              <a:t>AWS, GCP 등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CI/CD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Version control    </a:t>
            </a:r>
            <a:r>
              <a:rPr b="0" i="0" lang="en-US" sz="1600" u="none" cap="none" strike="noStrike">
                <a:solidFill>
                  <a:srgbClr val="808080"/>
                </a:solidFill>
                <a:latin typeface="Gulim"/>
                <a:ea typeface="Gulim"/>
                <a:cs typeface="Gulim"/>
                <a:sym typeface="Gulim"/>
              </a:rPr>
              <a:t>git 등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 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Project management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Distributed computing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API development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System design &amp; software architecture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Databases &amp; query languages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Design patterns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Functional programming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Data Structures &amp; Algorithms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다른 프로그래밍 언어 </a:t>
            </a:r>
            <a:r>
              <a:rPr b="0" i="0" lang="en-US" sz="1600" u="none" cap="none" strike="noStrike">
                <a:solidFill>
                  <a:srgbClr val="808080"/>
                </a:solidFill>
                <a:latin typeface="Gulim"/>
                <a:ea typeface="Gulim"/>
                <a:cs typeface="Gulim"/>
                <a:sym typeface="Gulim"/>
              </a:rPr>
              <a:t>C++, Java, 등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9"/>
          <p:cNvSpPr/>
          <p:nvPr/>
        </p:nvSpPr>
        <p:spPr>
          <a:xfrm>
            <a:off x="6951240" y="1880640"/>
            <a:ext cx="5222880" cy="2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ML Applications </a:t>
            </a:r>
            <a:r>
              <a:rPr b="0" i="0" lang="en-US" sz="1600" u="none" cap="none" strike="noStrike">
                <a:solidFill>
                  <a:srgbClr val="808080"/>
                </a:solidFill>
                <a:latin typeface="Gulim"/>
                <a:ea typeface="Gulim"/>
                <a:cs typeface="Gulim"/>
                <a:sym typeface="Gulim"/>
              </a:rPr>
              <a:t>NLP, CV, Speech, Time Series 등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DL frameworks  </a:t>
            </a:r>
            <a:r>
              <a:rPr b="0" i="0" lang="en-US" sz="1600" u="none" cap="none" strike="noStrike">
                <a:solidFill>
                  <a:srgbClr val="808080"/>
                </a:solidFill>
                <a:latin typeface="Gulim"/>
                <a:ea typeface="Gulim"/>
                <a:cs typeface="Gulim"/>
                <a:sym typeface="Gulim"/>
              </a:rPr>
              <a:t>TensorFlow, PyTorch 등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ML frameworks </a:t>
            </a:r>
            <a:r>
              <a:rPr b="0" i="0" lang="en-US" sz="1600" u="none" cap="none" strike="noStrike">
                <a:solidFill>
                  <a:srgbClr val="808080"/>
                </a:solidFill>
                <a:latin typeface="Gulim"/>
                <a:ea typeface="Gulim"/>
                <a:cs typeface="Gulim"/>
                <a:sym typeface="Gulim"/>
              </a:rPr>
              <a:t>scikit-learn, XGBoost 등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Python+SciPy패키지 </a:t>
            </a:r>
            <a:r>
              <a:rPr b="0" i="0" lang="en-US" sz="1600" u="none" cap="none" strike="noStrike">
                <a:solidFill>
                  <a:srgbClr val="808080"/>
                </a:solidFill>
                <a:latin typeface="Gulim"/>
                <a:ea typeface="Gulim"/>
                <a:cs typeface="Gulim"/>
                <a:sym typeface="Gulim"/>
              </a:rPr>
              <a:t>Numpy, Pandas, Matplotlib 등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 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Model validation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Model optimization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Probability/Statistics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Gulim"/>
                <a:ea typeface="Gulim"/>
                <a:cs typeface="Gulim"/>
                <a:sym typeface="Gulim"/>
              </a:rPr>
              <a:t>Basic Mathematics   </a:t>
            </a:r>
            <a:r>
              <a:rPr b="0" i="0" lang="en-US" sz="1600" u="none" cap="none" strike="noStrike">
                <a:solidFill>
                  <a:srgbClr val="808080"/>
                </a:solidFill>
                <a:latin typeface="Gulim"/>
                <a:ea typeface="Gulim"/>
                <a:cs typeface="Gulim"/>
                <a:sym typeface="Gulim"/>
              </a:rPr>
              <a:t>linear algebra, calculus 등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9"/>
          <p:cNvSpPr/>
          <p:nvPr/>
        </p:nvSpPr>
        <p:spPr>
          <a:xfrm>
            <a:off x="316080" y="827280"/>
            <a:ext cx="1155960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 Data Scientist가 유사 분야에서 시작했듯 MLE 또한 Data Science와 Software Engineering 배경이 필요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9"/>
          <p:cNvSpPr/>
          <p:nvPr/>
        </p:nvSpPr>
        <p:spPr>
          <a:xfrm>
            <a:off x="0" y="116640"/>
            <a:ext cx="12191760" cy="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Machine Learning Engineering에 요구되는 스킬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0"/>
          <p:cNvSpPr/>
          <p:nvPr/>
        </p:nvSpPr>
        <p:spPr>
          <a:xfrm>
            <a:off x="0" y="116640"/>
            <a:ext cx="12191760" cy="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AutoML (Automated Machine Learning)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0"/>
          <p:cNvSpPr/>
          <p:nvPr/>
        </p:nvSpPr>
        <p:spPr>
          <a:xfrm>
            <a:off x="3819240" y="2951280"/>
            <a:ext cx="496836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Are Self-Service Machine Learning Models the Future of AI Integration?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7" name="Google Shape;54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7520" y="1525320"/>
            <a:ext cx="7136280" cy="140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20"/>
          <p:cNvSpPr/>
          <p:nvPr/>
        </p:nvSpPr>
        <p:spPr>
          <a:xfrm>
            <a:off x="505440" y="792720"/>
            <a:ext cx="91908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숙련된 인력 수급이 어려움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기존 개발 인력의 빠른 성장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적은 인력으로 더 많은 업무를 수행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b="0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데이터 과학, 머신/딥러닝 직무의 생산성 향상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9" name="Google Shape;54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08240" y="4078080"/>
            <a:ext cx="4047840" cy="2352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8800" y="3462840"/>
            <a:ext cx="1171080" cy="1199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87360" y="3573000"/>
            <a:ext cx="4462920" cy="304416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20"/>
          <p:cNvSpPr/>
          <p:nvPr/>
        </p:nvSpPr>
        <p:spPr>
          <a:xfrm>
            <a:off x="887040" y="6579360"/>
            <a:ext cx="549648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https://docs.aws.amazon.com/sagemaker/latest/dg/how-it-works-mlconcepts.html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3" name="Google Shape;55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1320" y="3316320"/>
            <a:ext cx="2423520" cy="103212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20"/>
          <p:cNvSpPr/>
          <p:nvPr/>
        </p:nvSpPr>
        <p:spPr>
          <a:xfrm>
            <a:off x="8808840" y="6580080"/>
            <a:ext cx="196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sng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https://www.kubeflow.org/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2017-11-29T00:28:57Z</dcterms:created>
  <dc:creator>Tae-Hyung Kim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24</vt:i4>
  </property>
  <property fmtid="{D5CDD505-2E9C-101B-9397-08002B2CF9AE}" pid="8" name="PresentationFormat">
    <vt:lpwstr>와이드스크린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28</vt:i4>
  </property>
</Properties>
</file>